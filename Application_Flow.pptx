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3" d="100"/>
          <a:sy n="73" d="100"/>
        </p:scale>
        <p:origin x="38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0" y="1463040"/>
            <a:ext cx="9418320" cy="1371600"/>
          </a:xfrm>
          <a:prstGeom prst="rect">
            <a:avLst/>
          </a:prstGeom>
          <a:solidFill>
            <a:srgbClr val="12285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1554480"/>
            <a:ext cx="9144000" cy="615553"/>
          </a:xfrm>
          <a:prstGeom prst="rect">
            <a:avLst/>
          </a:prstGeom>
          <a:noFill/>
        </p:spPr>
        <p:txBody>
          <a:bodyPr wrap="square">
            <a:spAutoFit/>
          </a:bodyPr>
          <a:lstStyle/>
          <a:p>
            <a:pPr algn="ctr"/>
            <a:r>
              <a:rPr lang="en-US" sz="3400" b="1" i="0" dirty="0">
                <a:solidFill>
                  <a:srgbClr val="FFFFFF"/>
                </a:solidFill>
              </a:rPr>
              <a:t>Enterprise</a:t>
            </a:r>
            <a:r>
              <a:rPr sz="3400" b="1" i="0" dirty="0">
                <a:solidFill>
                  <a:srgbClr val="FFFFFF"/>
                </a:solidFill>
              </a:rPr>
              <a:t> Bank</a:t>
            </a:r>
            <a:r>
              <a:rPr lang="en-US" sz="3400" b="1" i="0" dirty="0">
                <a:solidFill>
                  <a:srgbClr val="FFFFFF"/>
                </a:solidFill>
              </a:rPr>
              <a:t> Application</a:t>
            </a:r>
            <a:endParaRPr sz="3400" b="1" i="0" dirty="0">
              <a:solidFill>
                <a:srgbClr val="FFFFFF"/>
              </a:solidFill>
            </a:endParaRPr>
          </a:p>
        </p:txBody>
      </p:sp>
      <p:sp>
        <p:nvSpPr>
          <p:cNvPr id="5" name="TextBox 4"/>
          <p:cNvSpPr txBox="1"/>
          <p:nvPr/>
        </p:nvSpPr>
        <p:spPr>
          <a:xfrm>
            <a:off x="1463040" y="2057400"/>
            <a:ext cx="9144000" cy="411480"/>
          </a:xfrm>
          <a:prstGeom prst="rect">
            <a:avLst/>
          </a:prstGeom>
          <a:noFill/>
        </p:spPr>
        <p:txBody>
          <a:bodyPr wrap="square">
            <a:spAutoFit/>
          </a:bodyPr>
          <a:lstStyle/>
          <a:p>
            <a:pPr algn="ctr"/>
            <a:r>
              <a:rPr sz="1800" b="0" i="1">
                <a:solidFill>
                  <a:srgbClr val="00B4D8"/>
                </a:solidFill>
              </a:rPr>
              <a:t>Application Flow &amp; Infrastructure Deep-Dive</a:t>
            </a:r>
          </a:p>
        </p:txBody>
      </p:sp>
      <p:sp>
        <p:nvSpPr>
          <p:cNvPr id="6" name="TextBox 5"/>
          <p:cNvSpPr txBox="1"/>
          <p:nvPr/>
        </p:nvSpPr>
        <p:spPr>
          <a:xfrm>
            <a:off x="1828800" y="3063240"/>
            <a:ext cx="8531352" cy="365760"/>
          </a:xfrm>
          <a:prstGeom prst="rect">
            <a:avLst/>
          </a:prstGeom>
          <a:noFill/>
        </p:spPr>
        <p:txBody>
          <a:bodyPr wrap="square">
            <a:spAutoFit/>
          </a:bodyPr>
          <a:lstStyle/>
          <a:p>
            <a:pPr algn="ctr"/>
            <a:r>
              <a:rPr sz="1300" b="0" i="0">
                <a:solidFill>
                  <a:srgbClr val="D0D8F0"/>
                </a:solidFill>
              </a:rPr>
              <a:t>How PostgreSQL · Redis · Kafka work together</a:t>
            </a:r>
          </a:p>
        </p:txBody>
      </p:sp>
      <p:sp>
        <p:nvSpPr>
          <p:cNvPr id="8" name="Rectangle 7"/>
          <p:cNvSpPr/>
          <p:nvPr/>
        </p:nvSpPr>
        <p:spPr>
          <a:xfrm>
            <a:off x="0" y="6693408"/>
            <a:ext cx="12188952" cy="16459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System Overview</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All components and how they connect</a:t>
            </a:r>
          </a:p>
        </p:txBody>
      </p:sp>
      <p:sp>
        <p:nvSpPr>
          <p:cNvPr id="5" name="Rectangle 4"/>
          <p:cNvSpPr/>
          <p:nvPr/>
        </p:nvSpPr>
        <p:spPr>
          <a:xfrm>
            <a:off x="274320" y="1188720"/>
            <a:ext cx="2011680" cy="822960"/>
          </a:xfrm>
          <a:prstGeom prst="rect">
            <a:avLst/>
          </a:prstGeom>
          <a:solidFill>
            <a:srgbClr val="12285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261872"/>
            <a:ext cx="1828800" cy="274320"/>
          </a:xfrm>
          <a:prstGeom prst="rect">
            <a:avLst/>
          </a:prstGeom>
          <a:noFill/>
        </p:spPr>
        <p:txBody>
          <a:bodyPr wrap="square">
            <a:spAutoFit/>
          </a:bodyPr>
          <a:lstStyle/>
          <a:p>
            <a:pPr algn="ctr"/>
            <a:r>
              <a:rPr sz="1100" b="1" i="0">
                <a:solidFill>
                  <a:srgbClr val="FFFFFF"/>
                </a:solidFill>
              </a:rPr>
              <a:t>React Frontend</a:t>
            </a:r>
          </a:p>
        </p:txBody>
      </p:sp>
      <p:sp>
        <p:nvSpPr>
          <p:cNvPr id="7" name="TextBox 6"/>
          <p:cNvSpPr txBox="1"/>
          <p:nvPr/>
        </p:nvSpPr>
        <p:spPr>
          <a:xfrm>
            <a:off x="365760" y="1536192"/>
            <a:ext cx="1828800" cy="228600"/>
          </a:xfrm>
          <a:prstGeom prst="rect">
            <a:avLst/>
          </a:prstGeom>
          <a:noFill/>
        </p:spPr>
        <p:txBody>
          <a:bodyPr wrap="square">
            <a:spAutoFit/>
          </a:bodyPr>
          <a:lstStyle/>
          <a:p>
            <a:pPr algn="ctr"/>
            <a:r>
              <a:rPr sz="850" b="0" i="0">
                <a:solidFill>
                  <a:srgbClr val="D0D8F0"/>
                </a:solidFill>
              </a:rPr>
              <a:t>Vite · Tailwind CSS</a:t>
            </a:r>
          </a:p>
        </p:txBody>
      </p:sp>
      <p:sp>
        <p:nvSpPr>
          <p:cNvPr id="8" name="Rectangle 7"/>
          <p:cNvSpPr/>
          <p:nvPr/>
        </p:nvSpPr>
        <p:spPr>
          <a:xfrm>
            <a:off x="937260" y="1737360"/>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00" b="1">
                <a:solidFill>
                  <a:srgbClr val="0D1B3E"/>
                </a:solidFill>
              </a:rPr>
              <a:t>:3000</a:t>
            </a:r>
          </a:p>
        </p:txBody>
      </p:sp>
      <p:cxnSp>
        <p:nvCxnSpPr>
          <p:cNvPr id="9" name="Connector 8"/>
          <p:cNvCxnSpPr/>
          <p:nvPr/>
        </p:nvCxnSpPr>
        <p:spPr>
          <a:xfrm>
            <a:off x="2286000" y="159105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697480" y="1051560"/>
            <a:ext cx="2194560" cy="713232"/>
          </a:xfrm>
          <a:prstGeom prst="rect">
            <a:avLst/>
          </a:prstGeom>
          <a:solidFill>
            <a:srgbClr val="12285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88920" y="1124712"/>
            <a:ext cx="2011679" cy="274320"/>
          </a:xfrm>
          <a:prstGeom prst="rect">
            <a:avLst/>
          </a:prstGeom>
          <a:noFill/>
        </p:spPr>
        <p:txBody>
          <a:bodyPr wrap="square">
            <a:spAutoFit/>
          </a:bodyPr>
          <a:lstStyle/>
          <a:p>
            <a:pPr algn="ctr"/>
            <a:r>
              <a:rPr sz="1100" b="1" i="0">
                <a:solidFill>
                  <a:srgbClr val="FFFFFF"/>
                </a:solidFill>
              </a:rPr>
              <a:t>User Service</a:t>
            </a:r>
          </a:p>
        </p:txBody>
      </p:sp>
      <p:sp>
        <p:nvSpPr>
          <p:cNvPr id="12" name="TextBox 11"/>
          <p:cNvSpPr txBox="1"/>
          <p:nvPr/>
        </p:nvSpPr>
        <p:spPr>
          <a:xfrm>
            <a:off x="2788920" y="1399031"/>
            <a:ext cx="2011679" cy="228600"/>
          </a:xfrm>
          <a:prstGeom prst="rect">
            <a:avLst/>
          </a:prstGeom>
          <a:noFill/>
        </p:spPr>
        <p:txBody>
          <a:bodyPr wrap="square">
            <a:spAutoFit/>
          </a:bodyPr>
          <a:lstStyle/>
          <a:p>
            <a:pPr algn="ctr"/>
            <a:r>
              <a:rPr sz="850" b="0" i="0">
                <a:solidFill>
                  <a:srgbClr val="D0D8F0"/>
                </a:solidFill>
              </a:rPr>
              <a:t>Python / FastAPI</a:t>
            </a:r>
          </a:p>
        </p:txBody>
      </p:sp>
      <p:sp>
        <p:nvSpPr>
          <p:cNvPr id="13" name="Rectangle 12"/>
          <p:cNvSpPr/>
          <p:nvPr/>
        </p:nvSpPr>
        <p:spPr>
          <a:xfrm>
            <a:off x="3451860" y="149047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00" b="1">
                <a:solidFill>
                  <a:srgbClr val="0D1B3E"/>
                </a:solidFill>
              </a:rPr>
              <a:t>:8000</a:t>
            </a:r>
          </a:p>
        </p:txBody>
      </p:sp>
      <p:sp>
        <p:nvSpPr>
          <p:cNvPr id="14" name="Rectangle 13"/>
          <p:cNvSpPr/>
          <p:nvPr/>
        </p:nvSpPr>
        <p:spPr>
          <a:xfrm>
            <a:off x="2697480" y="1920240"/>
            <a:ext cx="2194560" cy="713232"/>
          </a:xfrm>
          <a:prstGeom prst="rect">
            <a:avLst/>
          </a:prstGeom>
          <a:solidFill>
            <a:srgbClr val="12285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88920" y="1993392"/>
            <a:ext cx="2011679" cy="274320"/>
          </a:xfrm>
          <a:prstGeom prst="rect">
            <a:avLst/>
          </a:prstGeom>
          <a:noFill/>
        </p:spPr>
        <p:txBody>
          <a:bodyPr wrap="square">
            <a:spAutoFit/>
          </a:bodyPr>
          <a:lstStyle/>
          <a:p>
            <a:pPr algn="ctr"/>
            <a:r>
              <a:rPr sz="1100" b="1" i="0">
                <a:solidFill>
                  <a:srgbClr val="FFFFFF"/>
                </a:solidFill>
              </a:rPr>
              <a:t>Transaction Service</a:t>
            </a:r>
          </a:p>
        </p:txBody>
      </p:sp>
      <p:sp>
        <p:nvSpPr>
          <p:cNvPr id="16" name="TextBox 15"/>
          <p:cNvSpPr txBox="1"/>
          <p:nvPr/>
        </p:nvSpPr>
        <p:spPr>
          <a:xfrm>
            <a:off x="2788920" y="2267712"/>
            <a:ext cx="2011679" cy="228600"/>
          </a:xfrm>
          <a:prstGeom prst="rect">
            <a:avLst/>
          </a:prstGeom>
          <a:noFill/>
        </p:spPr>
        <p:txBody>
          <a:bodyPr wrap="square">
            <a:spAutoFit/>
          </a:bodyPr>
          <a:lstStyle/>
          <a:p>
            <a:pPr algn="ctr"/>
            <a:r>
              <a:rPr sz="850" b="0" i="0">
                <a:solidFill>
                  <a:srgbClr val="D0D8F0"/>
                </a:solidFill>
              </a:rPr>
              <a:t>Java / Spring Boot 3</a:t>
            </a:r>
          </a:p>
        </p:txBody>
      </p:sp>
      <p:sp>
        <p:nvSpPr>
          <p:cNvPr id="17" name="Rectangle 16"/>
          <p:cNvSpPr/>
          <p:nvPr/>
        </p:nvSpPr>
        <p:spPr>
          <a:xfrm>
            <a:off x="3451860" y="235915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00" b="1">
                <a:solidFill>
                  <a:srgbClr val="0D1B3E"/>
                </a:solidFill>
              </a:rPr>
              <a:t>:8080</a:t>
            </a:r>
          </a:p>
        </p:txBody>
      </p:sp>
      <p:sp>
        <p:nvSpPr>
          <p:cNvPr id="18" name="Rectangle 17"/>
          <p:cNvSpPr/>
          <p:nvPr/>
        </p:nvSpPr>
        <p:spPr>
          <a:xfrm>
            <a:off x="2697480" y="2788920"/>
            <a:ext cx="2194560" cy="713232"/>
          </a:xfrm>
          <a:prstGeom prst="rect">
            <a:avLst/>
          </a:prstGeom>
          <a:solidFill>
            <a:srgbClr val="12285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88920" y="2862072"/>
            <a:ext cx="2011679" cy="274320"/>
          </a:xfrm>
          <a:prstGeom prst="rect">
            <a:avLst/>
          </a:prstGeom>
          <a:noFill/>
        </p:spPr>
        <p:txBody>
          <a:bodyPr wrap="square">
            <a:spAutoFit/>
          </a:bodyPr>
          <a:lstStyle/>
          <a:p>
            <a:pPr algn="ctr"/>
            <a:r>
              <a:rPr sz="1100" b="1" i="0">
                <a:solidFill>
                  <a:srgbClr val="FFFFFF"/>
                </a:solidFill>
              </a:rPr>
              <a:t>Activity Service</a:t>
            </a:r>
          </a:p>
        </p:txBody>
      </p:sp>
      <p:sp>
        <p:nvSpPr>
          <p:cNvPr id="20" name="TextBox 19"/>
          <p:cNvSpPr txBox="1"/>
          <p:nvPr/>
        </p:nvSpPr>
        <p:spPr>
          <a:xfrm>
            <a:off x="2788920" y="3136391"/>
            <a:ext cx="2011679" cy="228600"/>
          </a:xfrm>
          <a:prstGeom prst="rect">
            <a:avLst/>
          </a:prstGeom>
          <a:noFill/>
        </p:spPr>
        <p:txBody>
          <a:bodyPr wrap="square">
            <a:spAutoFit/>
          </a:bodyPr>
          <a:lstStyle/>
          <a:p>
            <a:pPr algn="ctr"/>
            <a:r>
              <a:rPr sz="850" b="0" i="0">
                <a:solidFill>
                  <a:srgbClr val="D0D8F0"/>
                </a:solidFill>
              </a:rPr>
              <a:t>Python / FastAPI + Kafka</a:t>
            </a:r>
          </a:p>
        </p:txBody>
      </p:sp>
      <p:sp>
        <p:nvSpPr>
          <p:cNvPr id="21" name="Rectangle 20"/>
          <p:cNvSpPr/>
          <p:nvPr/>
        </p:nvSpPr>
        <p:spPr>
          <a:xfrm>
            <a:off x="3451860" y="322783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00" b="1">
                <a:solidFill>
                  <a:srgbClr val="0D1B3E"/>
                </a:solidFill>
              </a:rPr>
              <a:t>:8001</a:t>
            </a:r>
          </a:p>
        </p:txBody>
      </p:sp>
      <p:cxnSp>
        <p:nvCxnSpPr>
          <p:cNvPr id="22" name="Connector 21"/>
          <p:cNvCxnSpPr/>
          <p:nvPr/>
        </p:nvCxnSpPr>
        <p:spPr>
          <a:xfrm>
            <a:off x="4892040" y="1408176"/>
            <a:ext cx="548639"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892040" y="2276856"/>
            <a:ext cx="548639"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892040" y="3145536"/>
            <a:ext cx="548639"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440680" y="1051560"/>
            <a:ext cx="2103120" cy="713232"/>
          </a:xfrm>
          <a:prstGeom prst="rect">
            <a:avLst/>
          </a:prstGeom>
          <a:solidFill>
            <a:srgbClr val="1A3A1A"/>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32120" y="1124712"/>
            <a:ext cx="1920239" cy="274320"/>
          </a:xfrm>
          <a:prstGeom prst="rect">
            <a:avLst/>
          </a:prstGeom>
          <a:noFill/>
        </p:spPr>
        <p:txBody>
          <a:bodyPr wrap="square">
            <a:spAutoFit/>
          </a:bodyPr>
          <a:lstStyle/>
          <a:p>
            <a:pPr algn="ctr"/>
            <a:r>
              <a:rPr sz="1100" b="1" i="0">
                <a:solidFill>
                  <a:srgbClr val="FFFFFF"/>
                </a:solidFill>
              </a:rPr>
              <a:t>PostgreSQL 15</a:t>
            </a:r>
          </a:p>
        </p:txBody>
      </p:sp>
      <p:sp>
        <p:nvSpPr>
          <p:cNvPr id="27" name="TextBox 26"/>
          <p:cNvSpPr txBox="1"/>
          <p:nvPr/>
        </p:nvSpPr>
        <p:spPr>
          <a:xfrm>
            <a:off x="5532120" y="1399031"/>
            <a:ext cx="1920239" cy="228600"/>
          </a:xfrm>
          <a:prstGeom prst="rect">
            <a:avLst/>
          </a:prstGeom>
          <a:noFill/>
        </p:spPr>
        <p:txBody>
          <a:bodyPr wrap="square">
            <a:spAutoFit/>
          </a:bodyPr>
          <a:lstStyle/>
          <a:p>
            <a:pPr algn="ctr"/>
            <a:r>
              <a:rPr sz="850" b="0" i="0">
                <a:solidFill>
                  <a:srgbClr val="D0D8F0"/>
                </a:solidFill>
              </a:rPr>
              <a:t>Relational DB</a:t>
            </a:r>
          </a:p>
        </p:txBody>
      </p:sp>
      <p:sp>
        <p:nvSpPr>
          <p:cNvPr id="28" name="Rectangle 27"/>
          <p:cNvSpPr/>
          <p:nvPr/>
        </p:nvSpPr>
        <p:spPr>
          <a:xfrm>
            <a:off x="6149340" y="149047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00" b="1">
                <a:solidFill>
                  <a:srgbClr val="0D1B3E"/>
                </a:solidFill>
              </a:rPr>
              <a:t>:5432</a:t>
            </a:r>
          </a:p>
        </p:txBody>
      </p:sp>
      <p:sp>
        <p:nvSpPr>
          <p:cNvPr id="29" name="Rectangle 28"/>
          <p:cNvSpPr/>
          <p:nvPr/>
        </p:nvSpPr>
        <p:spPr>
          <a:xfrm>
            <a:off x="5440680" y="1920240"/>
            <a:ext cx="2103120" cy="713232"/>
          </a:xfrm>
          <a:prstGeom prst="rect">
            <a:avLst/>
          </a:prstGeom>
          <a:solidFill>
            <a:srgbClr val="3A1810"/>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32120" y="1993392"/>
            <a:ext cx="1920239" cy="274320"/>
          </a:xfrm>
          <a:prstGeom prst="rect">
            <a:avLst/>
          </a:prstGeom>
          <a:noFill/>
        </p:spPr>
        <p:txBody>
          <a:bodyPr wrap="square">
            <a:spAutoFit/>
          </a:bodyPr>
          <a:lstStyle/>
          <a:p>
            <a:pPr algn="ctr"/>
            <a:r>
              <a:rPr sz="1100" b="1" i="0">
                <a:solidFill>
                  <a:srgbClr val="FFFFFF"/>
                </a:solidFill>
              </a:rPr>
              <a:t>Redis 7</a:t>
            </a:r>
          </a:p>
        </p:txBody>
      </p:sp>
      <p:sp>
        <p:nvSpPr>
          <p:cNvPr id="31" name="TextBox 30"/>
          <p:cNvSpPr txBox="1"/>
          <p:nvPr/>
        </p:nvSpPr>
        <p:spPr>
          <a:xfrm>
            <a:off x="5532120" y="2267712"/>
            <a:ext cx="1920239" cy="228600"/>
          </a:xfrm>
          <a:prstGeom prst="rect">
            <a:avLst/>
          </a:prstGeom>
          <a:noFill/>
        </p:spPr>
        <p:txBody>
          <a:bodyPr wrap="square">
            <a:spAutoFit/>
          </a:bodyPr>
          <a:lstStyle/>
          <a:p>
            <a:pPr algn="ctr"/>
            <a:r>
              <a:rPr sz="850" b="0" i="0">
                <a:solidFill>
                  <a:srgbClr val="D0D8F0"/>
                </a:solidFill>
              </a:rPr>
              <a:t>In-Memory Cache</a:t>
            </a:r>
          </a:p>
        </p:txBody>
      </p:sp>
      <p:sp>
        <p:nvSpPr>
          <p:cNvPr id="32" name="Rectangle 31"/>
          <p:cNvSpPr/>
          <p:nvPr/>
        </p:nvSpPr>
        <p:spPr>
          <a:xfrm>
            <a:off x="6149340" y="235915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00" b="1">
                <a:solidFill>
                  <a:srgbClr val="0D1B3E"/>
                </a:solidFill>
              </a:rPr>
              <a:t>:6379</a:t>
            </a:r>
          </a:p>
        </p:txBody>
      </p:sp>
      <p:sp>
        <p:nvSpPr>
          <p:cNvPr id="33" name="Rectangle 32"/>
          <p:cNvSpPr/>
          <p:nvPr/>
        </p:nvSpPr>
        <p:spPr>
          <a:xfrm>
            <a:off x="5440680" y="2788920"/>
            <a:ext cx="2103120" cy="713232"/>
          </a:xfrm>
          <a:prstGeom prst="rect">
            <a:avLst/>
          </a:prstGeom>
          <a:solidFill>
            <a:srgbClr val="1E223A"/>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32120" y="2862072"/>
            <a:ext cx="1920239" cy="274320"/>
          </a:xfrm>
          <a:prstGeom prst="rect">
            <a:avLst/>
          </a:prstGeom>
          <a:noFill/>
        </p:spPr>
        <p:txBody>
          <a:bodyPr wrap="square">
            <a:spAutoFit/>
          </a:bodyPr>
          <a:lstStyle/>
          <a:p>
            <a:pPr algn="ctr"/>
            <a:r>
              <a:rPr sz="1100" b="1" i="0">
                <a:solidFill>
                  <a:srgbClr val="FFFFFF"/>
                </a:solidFill>
              </a:rPr>
              <a:t>Apache Kafka</a:t>
            </a:r>
          </a:p>
        </p:txBody>
      </p:sp>
      <p:sp>
        <p:nvSpPr>
          <p:cNvPr id="35" name="TextBox 34"/>
          <p:cNvSpPr txBox="1"/>
          <p:nvPr/>
        </p:nvSpPr>
        <p:spPr>
          <a:xfrm>
            <a:off x="5532120" y="3136391"/>
            <a:ext cx="1920239" cy="228600"/>
          </a:xfrm>
          <a:prstGeom prst="rect">
            <a:avLst/>
          </a:prstGeom>
          <a:noFill/>
        </p:spPr>
        <p:txBody>
          <a:bodyPr wrap="square">
            <a:spAutoFit/>
          </a:bodyPr>
          <a:lstStyle/>
          <a:p>
            <a:pPr algn="ctr"/>
            <a:r>
              <a:rPr sz="850" b="0" i="0">
                <a:solidFill>
                  <a:srgbClr val="D0D8F0"/>
                </a:solidFill>
              </a:rPr>
              <a:t>Event Broker</a:t>
            </a:r>
          </a:p>
        </p:txBody>
      </p:sp>
      <p:sp>
        <p:nvSpPr>
          <p:cNvPr id="36" name="Rectangle 35"/>
          <p:cNvSpPr/>
          <p:nvPr/>
        </p:nvSpPr>
        <p:spPr>
          <a:xfrm>
            <a:off x="6149340" y="322783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00" b="1">
                <a:solidFill>
                  <a:srgbClr val="0D1B3E"/>
                </a:solidFill>
              </a:rPr>
              <a:t>:9092</a:t>
            </a:r>
          </a:p>
        </p:txBody>
      </p:sp>
      <p:cxnSp>
        <p:nvCxnSpPr>
          <p:cNvPr id="37" name="Connector 36"/>
          <p:cNvCxnSpPr/>
          <p:nvPr/>
        </p:nvCxnSpPr>
        <p:spPr>
          <a:xfrm>
            <a:off x="7543800" y="3145536"/>
            <a:ext cx="0" cy="45720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892040" y="3602736"/>
            <a:ext cx="105156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892040" y="3145536"/>
            <a:ext cx="0" cy="45720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74320" y="4206240"/>
            <a:ext cx="11612880" cy="237744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 y="4297680"/>
            <a:ext cx="2743200" cy="274320"/>
          </a:xfrm>
          <a:prstGeom prst="rect">
            <a:avLst/>
          </a:prstGeom>
          <a:noFill/>
        </p:spPr>
        <p:txBody>
          <a:bodyPr wrap="square">
            <a:spAutoFit/>
          </a:bodyPr>
          <a:lstStyle/>
          <a:p>
            <a:pPr algn="l"/>
            <a:r>
              <a:rPr sz="900" b="1" i="0">
                <a:solidFill>
                  <a:srgbClr val="00B4D8"/>
                </a:solidFill>
              </a:rPr>
              <a:t>KEY FLOWS</a:t>
            </a:r>
          </a:p>
        </p:txBody>
      </p:sp>
      <p:sp>
        <p:nvSpPr>
          <p:cNvPr id="42" name="Rectangle 41"/>
          <p:cNvSpPr/>
          <p:nvPr/>
        </p:nvSpPr>
        <p:spPr>
          <a:xfrm>
            <a:off x="274320" y="4617720"/>
            <a:ext cx="116128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11480" y="4681728"/>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50" b="1">
                <a:solidFill>
                  <a:srgbClr val="FFFFFF"/>
                </a:solidFill>
              </a:rPr>
              <a:t>User Registration</a:t>
            </a:r>
          </a:p>
        </p:txBody>
      </p:sp>
      <p:sp>
        <p:nvSpPr>
          <p:cNvPr id="44" name="TextBox 43"/>
          <p:cNvSpPr txBox="1"/>
          <p:nvPr/>
        </p:nvSpPr>
        <p:spPr>
          <a:xfrm>
            <a:off x="2514600" y="4681728"/>
            <a:ext cx="9235440" cy="256032"/>
          </a:xfrm>
          <a:prstGeom prst="rect">
            <a:avLst/>
          </a:prstGeom>
          <a:noFill/>
        </p:spPr>
        <p:txBody>
          <a:bodyPr wrap="square">
            <a:spAutoFit/>
          </a:bodyPr>
          <a:lstStyle/>
          <a:p>
            <a:pPr algn="l"/>
            <a:r>
              <a:rPr sz="900" b="0" i="0">
                <a:solidFill>
                  <a:srgbClr val="D0D8F0"/>
                </a:solidFill>
              </a:rPr>
              <a:t>Browser → User Service → PostgreSQL (users + accounts tables)</a:t>
            </a:r>
          </a:p>
        </p:txBody>
      </p:sp>
      <p:sp>
        <p:nvSpPr>
          <p:cNvPr id="45" name="Rectangle 44"/>
          <p:cNvSpPr/>
          <p:nvPr/>
        </p:nvSpPr>
        <p:spPr>
          <a:xfrm>
            <a:off x="411480" y="5029200"/>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50" b="1">
                <a:solidFill>
                  <a:srgbClr val="FFFFFF"/>
                </a:solidFill>
              </a:rPr>
              <a:t>Deposit / Withdraw</a:t>
            </a:r>
          </a:p>
        </p:txBody>
      </p:sp>
      <p:sp>
        <p:nvSpPr>
          <p:cNvPr id="46" name="TextBox 45"/>
          <p:cNvSpPr txBox="1"/>
          <p:nvPr/>
        </p:nvSpPr>
        <p:spPr>
          <a:xfrm>
            <a:off x="2514600" y="5029200"/>
            <a:ext cx="9235440" cy="256032"/>
          </a:xfrm>
          <a:prstGeom prst="rect">
            <a:avLst/>
          </a:prstGeom>
          <a:noFill/>
        </p:spPr>
        <p:txBody>
          <a:bodyPr wrap="square">
            <a:spAutoFit/>
          </a:bodyPr>
          <a:lstStyle/>
          <a:p>
            <a:pPr algn="l"/>
            <a:r>
              <a:rPr sz="900" b="0" i="0">
                <a:solidFill>
                  <a:srgbClr val="D0D8F0"/>
                </a:solidFill>
              </a:rPr>
              <a:t>Browser → Transaction Service → PostgreSQL (balance update) → Redis (cache) → Kafka (event)</a:t>
            </a:r>
          </a:p>
        </p:txBody>
      </p:sp>
      <p:sp>
        <p:nvSpPr>
          <p:cNvPr id="47" name="Rectangle 46"/>
          <p:cNvSpPr/>
          <p:nvPr/>
        </p:nvSpPr>
        <p:spPr>
          <a:xfrm>
            <a:off x="411480" y="5376672"/>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50" b="1">
                <a:solidFill>
                  <a:srgbClr val="FFFFFF"/>
                </a:solidFill>
              </a:rPr>
              <a:t>Balance Read</a:t>
            </a:r>
          </a:p>
        </p:txBody>
      </p:sp>
      <p:sp>
        <p:nvSpPr>
          <p:cNvPr id="48" name="TextBox 47"/>
          <p:cNvSpPr txBox="1"/>
          <p:nvPr/>
        </p:nvSpPr>
        <p:spPr>
          <a:xfrm>
            <a:off x="2514600" y="5376672"/>
            <a:ext cx="9235440" cy="256032"/>
          </a:xfrm>
          <a:prstGeom prst="rect">
            <a:avLst/>
          </a:prstGeom>
          <a:noFill/>
        </p:spPr>
        <p:txBody>
          <a:bodyPr wrap="square">
            <a:spAutoFit/>
          </a:bodyPr>
          <a:lstStyle/>
          <a:p>
            <a:pPr algn="l"/>
            <a:r>
              <a:rPr sz="900" b="0" i="0">
                <a:solidFill>
                  <a:srgbClr val="D0D8F0"/>
                </a:solidFill>
              </a:rPr>
              <a:t>Browser → Transaction Service → Redis HIT (fast) or PostgreSQL MISS (fallback)</a:t>
            </a:r>
          </a:p>
        </p:txBody>
      </p:sp>
      <p:sp>
        <p:nvSpPr>
          <p:cNvPr id="49" name="Rectangle 48"/>
          <p:cNvSpPr/>
          <p:nvPr/>
        </p:nvSpPr>
        <p:spPr>
          <a:xfrm>
            <a:off x="411480" y="5724144"/>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50" b="1">
                <a:solidFill>
                  <a:srgbClr val="FFFFFF"/>
                </a:solidFill>
              </a:rPr>
              <a:t>Activity Logging</a:t>
            </a:r>
          </a:p>
        </p:txBody>
      </p:sp>
      <p:sp>
        <p:nvSpPr>
          <p:cNvPr id="50" name="TextBox 49"/>
          <p:cNvSpPr txBox="1"/>
          <p:nvPr/>
        </p:nvSpPr>
        <p:spPr>
          <a:xfrm>
            <a:off x="2514600" y="5724144"/>
            <a:ext cx="9235440" cy="256032"/>
          </a:xfrm>
          <a:prstGeom prst="rect">
            <a:avLst/>
          </a:prstGeom>
          <a:noFill/>
        </p:spPr>
        <p:txBody>
          <a:bodyPr wrap="square">
            <a:spAutoFit/>
          </a:bodyPr>
          <a:lstStyle/>
          <a:p>
            <a:pPr algn="l"/>
            <a:r>
              <a:rPr sz="900" b="0" i="0">
                <a:solidFill>
                  <a:srgbClr val="D0D8F0"/>
                </a:solidFill>
              </a:rPr>
              <a:t>Kafka topic → Activity Service consumer → PostgreSQL (activities table)</a:t>
            </a:r>
          </a:p>
        </p:txBody>
      </p:sp>
      <p:sp>
        <p:nvSpPr>
          <p:cNvPr id="51" name="Rectangle 50"/>
          <p:cNvSpPr/>
          <p:nvPr/>
        </p:nvSpPr>
        <p:spPr>
          <a:xfrm>
            <a:off x="411480" y="6071616"/>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50" b="1">
                <a:solidFill>
                  <a:srgbClr val="FFFFFF"/>
                </a:solidFill>
              </a:rPr>
              <a:t>Transfer</a:t>
            </a:r>
          </a:p>
        </p:txBody>
      </p:sp>
      <p:sp>
        <p:nvSpPr>
          <p:cNvPr id="52" name="TextBox 51"/>
          <p:cNvSpPr txBox="1"/>
          <p:nvPr/>
        </p:nvSpPr>
        <p:spPr>
          <a:xfrm>
            <a:off x="2514600" y="6071616"/>
            <a:ext cx="9235440" cy="256032"/>
          </a:xfrm>
          <a:prstGeom prst="rect">
            <a:avLst/>
          </a:prstGeom>
          <a:noFill/>
        </p:spPr>
        <p:txBody>
          <a:bodyPr wrap="square">
            <a:spAutoFit/>
          </a:bodyPr>
          <a:lstStyle/>
          <a:p>
            <a:pPr algn="l"/>
            <a:r>
              <a:rPr sz="900" b="0" i="0">
                <a:solidFill>
                  <a:srgbClr val="D0D8F0"/>
                </a:solidFill>
              </a:rPr>
              <a:t>Browser → Transaction Service → PostgreSQL (2 accounts) → Redis (both users) → Kafka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1 — User Registration</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User Service  ›  PostgreSQL</a:t>
            </a:r>
          </a:p>
        </p:txBody>
      </p:sp>
      <p:sp>
        <p:nvSpPr>
          <p:cNvPr id="5" name="Rectangle 4"/>
          <p:cNvSpPr/>
          <p:nvPr/>
        </p:nvSpPr>
        <p:spPr>
          <a:xfrm>
            <a:off x="365760" y="1280160"/>
            <a:ext cx="214884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88720" y="128016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1</a:t>
            </a:r>
          </a:p>
        </p:txBody>
      </p:sp>
      <p:sp>
        <p:nvSpPr>
          <p:cNvPr id="7" name="TextBox 6"/>
          <p:cNvSpPr txBox="1"/>
          <p:nvPr/>
        </p:nvSpPr>
        <p:spPr>
          <a:xfrm>
            <a:off x="457200" y="1627632"/>
            <a:ext cx="1965960" cy="274320"/>
          </a:xfrm>
          <a:prstGeom prst="rect">
            <a:avLst/>
          </a:prstGeom>
          <a:noFill/>
        </p:spPr>
        <p:txBody>
          <a:bodyPr wrap="square">
            <a:spAutoFit/>
          </a:bodyPr>
          <a:lstStyle/>
          <a:p>
            <a:pPr algn="ctr"/>
            <a:r>
              <a:rPr sz="1100" b="1" i="0">
                <a:solidFill>
                  <a:srgbClr val="FFFFFF"/>
                </a:solidFill>
              </a:rPr>
              <a:t>Browser</a:t>
            </a:r>
          </a:p>
        </p:txBody>
      </p:sp>
      <p:sp>
        <p:nvSpPr>
          <p:cNvPr id="8" name="TextBox 7"/>
          <p:cNvSpPr txBox="1"/>
          <p:nvPr/>
        </p:nvSpPr>
        <p:spPr>
          <a:xfrm>
            <a:off x="457200" y="1965960"/>
            <a:ext cx="1965960" cy="1188720"/>
          </a:xfrm>
          <a:prstGeom prst="rect">
            <a:avLst/>
          </a:prstGeom>
          <a:noFill/>
        </p:spPr>
        <p:txBody>
          <a:bodyPr wrap="square">
            <a:spAutoFit/>
          </a:bodyPr>
          <a:lstStyle/>
          <a:p>
            <a:pPr algn="ctr"/>
            <a:r>
              <a:rPr sz="950" b="0" i="0">
                <a:solidFill>
                  <a:srgbClr val="D0D8F0"/>
                </a:solidFill>
              </a:rPr>
              <a:t>POST /users
{id, full_name, email}</a:t>
            </a:r>
          </a:p>
        </p:txBody>
      </p:sp>
      <p:cxnSp>
        <p:nvCxnSpPr>
          <p:cNvPr id="9" name="Connector 8"/>
          <p:cNvCxnSpPr/>
          <p:nvPr/>
        </p:nvCxnSpPr>
        <p:spPr>
          <a:xfrm>
            <a:off x="2514600" y="2267712"/>
            <a:ext cx="5486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697480" y="1280160"/>
            <a:ext cx="214884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20440" y="128016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2</a:t>
            </a:r>
          </a:p>
        </p:txBody>
      </p:sp>
      <p:sp>
        <p:nvSpPr>
          <p:cNvPr id="12" name="TextBox 11"/>
          <p:cNvSpPr txBox="1"/>
          <p:nvPr/>
        </p:nvSpPr>
        <p:spPr>
          <a:xfrm>
            <a:off x="2788920" y="1627632"/>
            <a:ext cx="1965960" cy="274320"/>
          </a:xfrm>
          <a:prstGeom prst="rect">
            <a:avLst/>
          </a:prstGeom>
          <a:noFill/>
        </p:spPr>
        <p:txBody>
          <a:bodyPr wrap="square">
            <a:spAutoFit/>
          </a:bodyPr>
          <a:lstStyle/>
          <a:p>
            <a:pPr algn="ctr"/>
            <a:r>
              <a:rPr sz="1100" b="1" i="0">
                <a:solidFill>
                  <a:srgbClr val="FFFFFF"/>
                </a:solidFill>
              </a:rPr>
              <a:t>User Service</a:t>
            </a:r>
          </a:p>
        </p:txBody>
      </p:sp>
      <p:sp>
        <p:nvSpPr>
          <p:cNvPr id="13" name="TextBox 12"/>
          <p:cNvSpPr txBox="1"/>
          <p:nvPr/>
        </p:nvSpPr>
        <p:spPr>
          <a:xfrm>
            <a:off x="2788920" y="1965960"/>
            <a:ext cx="1965960" cy="1188720"/>
          </a:xfrm>
          <a:prstGeom prst="rect">
            <a:avLst/>
          </a:prstGeom>
          <a:noFill/>
        </p:spPr>
        <p:txBody>
          <a:bodyPr wrap="square">
            <a:spAutoFit/>
          </a:bodyPr>
          <a:lstStyle/>
          <a:p>
            <a:pPr algn="ctr"/>
            <a:r>
              <a:rPr sz="950" b="0" i="0">
                <a:solidFill>
                  <a:srgbClr val="D0D8F0"/>
                </a:solidFill>
              </a:rPr>
              <a:t>Validates request
(FastAPI / Pydantic)</a:t>
            </a:r>
          </a:p>
        </p:txBody>
      </p:sp>
      <p:cxnSp>
        <p:nvCxnSpPr>
          <p:cNvPr id="14" name="Connector 13"/>
          <p:cNvCxnSpPr/>
          <p:nvPr/>
        </p:nvCxnSpPr>
        <p:spPr>
          <a:xfrm>
            <a:off x="4846320" y="2267712"/>
            <a:ext cx="5486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029200" y="1280160"/>
            <a:ext cx="2148840" cy="2011680"/>
          </a:xfrm>
          <a:prstGeom prst="rect">
            <a:avLst/>
          </a:prstGeom>
          <a:solidFill>
            <a:srgbClr val="1A3A1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52160" y="128016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3</a:t>
            </a:r>
          </a:p>
        </p:txBody>
      </p:sp>
      <p:sp>
        <p:nvSpPr>
          <p:cNvPr id="17" name="TextBox 16"/>
          <p:cNvSpPr txBox="1"/>
          <p:nvPr/>
        </p:nvSpPr>
        <p:spPr>
          <a:xfrm>
            <a:off x="5120640" y="1627632"/>
            <a:ext cx="1965960" cy="274320"/>
          </a:xfrm>
          <a:prstGeom prst="rect">
            <a:avLst/>
          </a:prstGeom>
          <a:noFill/>
        </p:spPr>
        <p:txBody>
          <a:bodyPr wrap="square">
            <a:spAutoFit/>
          </a:bodyPr>
          <a:lstStyle/>
          <a:p>
            <a:pPr algn="ctr"/>
            <a:r>
              <a:rPr sz="1100" b="1" i="0">
                <a:solidFill>
                  <a:srgbClr val="FFFFFF"/>
                </a:solidFill>
              </a:rPr>
              <a:t>PostgreSQL</a:t>
            </a:r>
          </a:p>
        </p:txBody>
      </p:sp>
      <p:sp>
        <p:nvSpPr>
          <p:cNvPr id="18" name="TextBox 17"/>
          <p:cNvSpPr txBox="1"/>
          <p:nvPr/>
        </p:nvSpPr>
        <p:spPr>
          <a:xfrm>
            <a:off x="5120640" y="1965960"/>
            <a:ext cx="1965960" cy="1188720"/>
          </a:xfrm>
          <a:prstGeom prst="rect">
            <a:avLst/>
          </a:prstGeom>
          <a:noFill/>
        </p:spPr>
        <p:txBody>
          <a:bodyPr wrap="square">
            <a:spAutoFit/>
          </a:bodyPr>
          <a:lstStyle/>
          <a:p>
            <a:pPr algn="ctr"/>
            <a:r>
              <a:rPr sz="950" b="0" i="0">
                <a:solidFill>
                  <a:srgbClr val="D0D8F0"/>
                </a:solidFill>
              </a:rPr>
              <a:t>INSERT into users
INSERT into accounts
(balance = 0)</a:t>
            </a:r>
          </a:p>
        </p:txBody>
      </p:sp>
      <p:cxnSp>
        <p:nvCxnSpPr>
          <p:cNvPr id="19" name="Connector 18"/>
          <p:cNvCxnSpPr/>
          <p:nvPr/>
        </p:nvCxnSpPr>
        <p:spPr>
          <a:xfrm>
            <a:off x="7178040" y="2267712"/>
            <a:ext cx="548639"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360920" y="1280160"/>
            <a:ext cx="214884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83880" y="128016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4</a:t>
            </a:r>
          </a:p>
        </p:txBody>
      </p:sp>
      <p:sp>
        <p:nvSpPr>
          <p:cNvPr id="22" name="TextBox 21"/>
          <p:cNvSpPr txBox="1"/>
          <p:nvPr/>
        </p:nvSpPr>
        <p:spPr>
          <a:xfrm>
            <a:off x="7452360" y="1627632"/>
            <a:ext cx="1965960" cy="274320"/>
          </a:xfrm>
          <a:prstGeom prst="rect">
            <a:avLst/>
          </a:prstGeom>
          <a:noFill/>
        </p:spPr>
        <p:txBody>
          <a:bodyPr wrap="square">
            <a:spAutoFit/>
          </a:bodyPr>
          <a:lstStyle/>
          <a:p>
            <a:pPr algn="ctr"/>
            <a:r>
              <a:rPr sz="1100" b="1" i="0">
                <a:solidFill>
                  <a:srgbClr val="FFFFFF"/>
                </a:solidFill>
              </a:rPr>
              <a:t>Response</a:t>
            </a:r>
          </a:p>
        </p:txBody>
      </p:sp>
      <p:sp>
        <p:nvSpPr>
          <p:cNvPr id="23" name="TextBox 22"/>
          <p:cNvSpPr txBox="1"/>
          <p:nvPr/>
        </p:nvSpPr>
        <p:spPr>
          <a:xfrm>
            <a:off x="7452360" y="1965960"/>
            <a:ext cx="1965960" cy="1188720"/>
          </a:xfrm>
          <a:prstGeom prst="rect">
            <a:avLst/>
          </a:prstGeom>
          <a:noFill/>
        </p:spPr>
        <p:txBody>
          <a:bodyPr wrap="square">
            <a:spAutoFit/>
          </a:bodyPr>
          <a:lstStyle/>
          <a:p>
            <a:pPr algn="ctr"/>
            <a:r>
              <a:rPr sz="950" b="0" i="0">
                <a:solidFill>
                  <a:srgbClr val="D0D8F0"/>
                </a:solidFill>
              </a:rPr>
              <a:t>201 Created
{user object}</a:t>
            </a:r>
          </a:p>
        </p:txBody>
      </p:sp>
      <p:sp>
        <p:nvSpPr>
          <p:cNvPr id="24" name="Rectangle 23"/>
          <p:cNvSpPr/>
          <p:nvPr/>
        </p:nvSpPr>
        <p:spPr>
          <a:xfrm>
            <a:off x="365760" y="3657600"/>
            <a:ext cx="11247120" cy="265176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4360" y="3749039"/>
            <a:ext cx="5486400" cy="274320"/>
          </a:xfrm>
          <a:prstGeom prst="rect">
            <a:avLst/>
          </a:prstGeom>
          <a:noFill/>
        </p:spPr>
        <p:txBody>
          <a:bodyPr wrap="square">
            <a:spAutoFit/>
          </a:bodyPr>
          <a:lstStyle/>
          <a:p>
            <a:pPr algn="l"/>
            <a:r>
              <a:rPr sz="900" b="1" i="0">
                <a:solidFill>
                  <a:srgbClr val="00B4D8"/>
                </a:solidFill>
              </a:rPr>
              <a:t>POSTGRESQL — TABLES WRITTEN</a:t>
            </a:r>
          </a:p>
        </p:txBody>
      </p:sp>
      <p:sp>
        <p:nvSpPr>
          <p:cNvPr id="26" name="Rectangle 25"/>
          <p:cNvSpPr/>
          <p:nvPr/>
        </p:nvSpPr>
        <p:spPr>
          <a:xfrm>
            <a:off x="365760" y="4069080"/>
            <a:ext cx="112471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4160520"/>
            <a:ext cx="3200400" cy="2743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4160520"/>
            <a:ext cx="3017520" cy="274320"/>
          </a:xfrm>
          <a:prstGeom prst="rect">
            <a:avLst/>
          </a:prstGeom>
          <a:noFill/>
        </p:spPr>
        <p:txBody>
          <a:bodyPr wrap="square">
            <a:spAutoFit/>
          </a:bodyPr>
          <a:lstStyle/>
          <a:p>
            <a:pPr algn="l"/>
            <a:r>
              <a:rPr sz="950" b="1" i="0">
                <a:solidFill>
                  <a:srgbClr val="FFFFFF"/>
                </a:solidFill>
              </a:rPr>
              <a:t>users</a:t>
            </a:r>
          </a:p>
        </p:txBody>
      </p:sp>
      <p:sp>
        <p:nvSpPr>
          <p:cNvPr id="29" name="Rectangle 28"/>
          <p:cNvSpPr/>
          <p:nvPr/>
        </p:nvSpPr>
        <p:spPr>
          <a:xfrm>
            <a:off x="457200" y="4434840"/>
            <a:ext cx="320040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4434840"/>
            <a:ext cx="3017520" cy="256032"/>
          </a:xfrm>
          <a:prstGeom prst="rect">
            <a:avLst/>
          </a:prstGeom>
          <a:noFill/>
        </p:spPr>
        <p:txBody>
          <a:bodyPr wrap="square">
            <a:spAutoFit/>
          </a:bodyPr>
          <a:lstStyle/>
          <a:p>
            <a:pPr algn="l"/>
            <a:r>
              <a:rPr sz="900" b="0" i="0">
                <a:solidFill>
                  <a:srgbClr val="D0D8F0"/>
                </a:solidFill>
              </a:rPr>
              <a:t>id  (PK)</a:t>
            </a:r>
          </a:p>
        </p:txBody>
      </p:sp>
      <p:sp>
        <p:nvSpPr>
          <p:cNvPr id="31" name="Rectangle 30"/>
          <p:cNvSpPr/>
          <p:nvPr/>
        </p:nvSpPr>
        <p:spPr>
          <a:xfrm>
            <a:off x="457200" y="4690872"/>
            <a:ext cx="320040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4690872"/>
            <a:ext cx="3017520" cy="256032"/>
          </a:xfrm>
          <a:prstGeom prst="rect">
            <a:avLst/>
          </a:prstGeom>
          <a:noFill/>
        </p:spPr>
        <p:txBody>
          <a:bodyPr wrap="square">
            <a:spAutoFit/>
          </a:bodyPr>
          <a:lstStyle/>
          <a:p>
            <a:pPr algn="l"/>
            <a:r>
              <a:rPr sz="900" b="0" i="0">
                <a:solidFill>
                  <a:srgbClr val="D0D8F0"/>
                </a:solidFill>
              </a:rPr>
              <a:t>full_name</a:t>
            </a:r>
          </a:p>
        </p:txBody>
      </p:sp>
      <p:sp>
        <p:nvSpPr>
          <p:cNvPr id="33" name="Rectangle 32"/>
          <p:cNvSpPr/>
          <p:nvPr/>
        </p:nvSpPr>
        <p:spPr>
          <a:xfrm>
            <a:off x="457200" y="4946904"/>
            <a:ext cx="320040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 y="4946904"/>
            <a:ext cx="3017520" cy="256032"/>
          </a:xfrm>
          <a:prstGeom prst="rect">
            <a:avLst/>
          </a:prstGeom>
          <a:noFill/>
        </p:spPr>
        <p:txBody>
          <a:bodyPr wrap="square">
            <a:spAutoFit/>
          </a:bodyPr>
          <a:lstStyle/>
          <a:p>
            <a:pPr algn="l"/>
            <a:r>
              <a:rPr sz="900" b="0" i="0">
                <a:solidFill>
                  <a:srgbClr val="D0D8F0"/>
                </a:solidFill>
              </a:rPr>
              <a:t>email</a:t>
            </a:r>
          </a:p>
        </p:txBody>
      </p:sp>
      <p:sp>
        <p:nvSpPr>
          <p:cNvPr id="35" name="Rectangle 34"/>
          <p:cNvSpPr/>
          <p:nvPr/>
        </p:nvSpPr>
        <p:spPr>
          <a:xfrm>
            <a:off x="457200" y="5202936"/>
            <a:ext cx="320040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5202936"/>
            <a:ext cx="3017520" cy="256032"/>
          </a:xfrm>
          <a:prstGeom prst="rect">
            <a:avLst/>
          </a:prstGeom>
          <a:noFill/>
        </p:spPr>
        <p:txBody>
          <a:bodyPr wrap="square">
            <a:spAutoFit/>
          </a:bodyPr>
          <a:lstStyle/>
          <a:p>
            <a:pPr algn="l"/>
            <a:r>
              <a:rPr sz="900" b="0" i="0">
                <a:solidFill>
                  <a:srgbClr val="D0D8F0"/>
                </a:solidFill>
              </a:rPr>
              <a:t>created_at</a:t>
            </a:r>
          </a:p>
        </p:txBody>
      </p:sp>
      <p:sp>
        <p:nvSpPr>
          <p:cNvPr id="37" name="Rectangle 36"/>
          <p:cNvSpPr/>
          <p:nvPr/>
        </p:nvSpPr>
        <p:spPr>
          <a:xfrm>
            <a:off x="4114800" y="4160520"/>
            <a:ext cx="3200400" cy="2743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206240" y="4160520"/>
            <a:ext cx="3017520" cy="274320"/>
          </a:xfrm>
          <a:prstGeom prst="rect">
            <a:avLst/>
          </a:prstGeom>
          <a:noFill/>
        </p:spPr>
        <p:txBody>
          <a:bodyPr wrap="square">
            <a:spAutoFit/>
          </a:bodyPr>
          <a:lstStyle/>
          <a:p>
            <a:pPr algn="l"/>
            <a:r>
              <a:rPr sz="950" b="1" i="0">
                <a:solidFill>
                  <a:srgbClr val="FFFFFF"/>
                </a:solidFill>
              </a:rPr>
              <a:t>accounts</a:t>
            </a:r>
          </a:p>
        </p:txBody>
      </p:sp>
      <p:sp>
        <p:nvSpPr>
          <p:cNvPr id="39" name="Rectangle 38"/>
          <p:cNvSpPr/>
          <p:nvPr/>
        </p:nvSpPr>
        <p:spPr>
          <a:xfrm>
            <a:off x="4114800" y="4434840"/>
            <a:ext cx="320040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51960" y="4434840"/>
            <a:ext cx="3017520" cy="256032"/>
          </a:xfrm>
          <a:prstGeom prst="rect">
            <a:avLst/>
          </a:prstGeom>
          <a:noFill/>
        </p:spPr>
        <p:txBody>
          <a:bodyPr wrap="square">
            <a:spAutoFit/>
          </a:bodyPr>
          <a:lstStyle/>
          <a:p>
            <a:pPr algn="l"/>
            <a:r>
              <a:rPr sz="900" b="0" i="0">
                <a:solidFill>
                  <a:srgbClr val="D0D8F0"/>
                </a:solidFill>
              </a:rPr>
              <a:t>user_id  (FK → users)</a:t>
            </a:r>
          </a:p>
        </p:txBody>
      </p:sp>
      <p:sp>
        <p:nvSpPr>
          <p:cNvPr id="41" name="Rectangle 40"/>
          <p:cNvSpPr/>
          <p:nvPr/>
        </p:nvSpPr>
        <p:spPr>
          <a:xfrm>
            <a:off x="4114800" y="4690872"/>
            <a:ext cx="320040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51960" y="4690872"/>
            <a:ext cx="3017520" cy="256032"/>
          </a:xfrm>
          <a:prstGeom prst="rect">
            <a:avLst/>
          </a:prstGeom>
          <a:noFill/>
        </p:spPr>
        <p:txBody>
          <a:bodyPr wrap="square">
            <a:spAutoFit/>
          </a:bodyPr>
          <a:lstStyle/>
          <a:p>
            <a:pPr algn="l"/>
            <a:r>
              <a:rPr sz="900" b="0" i="0">
                <a:solidFill>
                  <a:srgbClr val="D0D8F0"/>
                </a:solidFill>
              </a:rPr>
              <a:t>balance  =  0</a:t>
            </a:r>
          </a:p>
        </p:txBody>
      </p:sp>
      <p:sp>
        <p:nvSpPr>
          <p:cNvPr id="43" name="Rectangle 42"/>
          <p:cNvSpPr/>
          <p:nvPr/>
        </p:nvSpPr>
        <p:spPr>
          <a:xfrm>
            <a:off x="4114800" y="4946904"/>
            <a:ext cx="320040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251960" y="4946904"/>
            <a:ext cx="3017520" cy="256032"/>
          </a:xfrm>
          <a:prstGeom prst="rect">
            <a:avLst/>
          </a:prstGeom>
          <a:noFill/>
        </p:spPr>
        <p:txBody>
          <a:bodyPr wrap="square">
            <a:spAutoFit/>
          </a:bodyPr>
          <a:lstStyle/>
          <a:p>
            <a:pPr algn="l"/>
            <a:r>
              <a:rPr sz="900" b="0" i="0">
                <a:solidFill>
                  <a:srgbClr val="D0D8F0"/>
                </a:solidFill>
              </a:rPr>
              <a:t>updated_at</a:t>
            </a:r>
          </a:p>
        </p:txBody>
      </p:sp>
      <p:sp>
        <p:nvSpPr>
          <p:cNvPr id="45" name="TextBox 44"/>
          <p:cNvSpPr txBox="1"/>
          <p:nvPr/>
        </p:nvSpPr>
        <p:spPr>
          <a:xfrm>
            <a:off x="457200" y="6309360"/>
            <a:ext cx="10972800" cy="274320"/>
          </a:xfrm>
          <a:prstGeom prst="rect">
            <a:avLst/>
          </a:prstGeom>
          <a:noFill/>
        </p:spPr>
        <p:txBody>
          <a:bodyPr wrap="square">
            <a:spAutoFit/>
          </a:bodyPr>
          <a:lstStyle/>
          <a:p>
            <a:pPr algn="l"/>
            <a:r>
              <a:rPr sz="900" b="0" i="1">
                <a:solidFill>
                  <a:srgbClr val="FF5A5A"/>
                </a:solidFill>
              </a:rPr>
              <a:t>Redis: NOT involved     Kafka: NOT involved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2 — Deposit &amp; Withdraw</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Transaction Service  ›  PostgreSQL  ›  Redis  ›  Kafka</a:t>
            </a:r>
          </a:p>
        </p:txBody>
      </p:sp>
      <p:sp>
        <p:nvSpPr>
          <p:cNvPr id="5" name="Rectangle 4"/>
          <p:cNvSpPr/>
          <p:nvPr/>
        </p:nvSpPr>
        <p:spPr>
          <a:xfrm>
            <a:off x="228600" y="1234440"/>
            <a:ext cx="2011680" cy="214884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78407"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1</a:t>
            </a:r>
          </a:p>
        </p:txBody>
      </p:sp>
      <p:sp>
        <p:nvSpPr>
          <p:cNvPr id="7" name="TextBox 6"/>
          <p:cNvSpPr txBox="1"/>
          <p:nvPr/>
        </p:nvSpPr>
        <p:spPr>
          <a:xfrm>
            <a:off x="301752" y="1581912"/>
            <a:ext cx="1865376" cy="347472"/>
          </a:xfrm>
          <a:prstGeom prst="rect">
            <a:avLst/>
          </a:prstGeom>
          <a:noFill/>
        </p:spPr>
        <p:txBody>
          <a:bodyPr wrap="square">
            <a:spAutoFit/>
          </a:bodyPr>
          <a:lstStyle/>
          <a:p>
            <a:pPr algn="ctr"/>
            <a:r>
              <a:rPr sz="1000" b="1" i="0">
                <a:solidFill>
                  <a:srgbClr val="FFFFFF"/>
                </a:solidFill>
              </a:rPr>
              <a:t>Browser</a:t>
            </a:r>
          </a:p>
        </p:txBody>
      </p:sp>
      <p:sp>
        <p:nvSpPr>
          <p:cNvPr id="8" name="TextBox 7"/>
          <p:cNvSpPr txBox="1"/>
          <p:nvPr/>
        </p:nvSpPr>
        <p:spPr>
          <a:xfrm>
            <a:off x="301752" y="1975104"/>
            <a:ext cx="1865376" cy="1280160"/>
          </a:xfrm>
          <a:prstGeom prst="rect">
            <a:avLst/>
          </a:prstGeom>
          <a:noFill/>
        </p:spPr>
        <p:txBody>
          <a:bodyPr wrap="square">
            <a:spAutoFit/>
          </a:bodyPr>
          <a:lstStyle/>
          <a:p>
            <a:pPr algn="ctr"/>
            <a:r>
              <a:rPr sz="900" b="0" i="0">
                <a:solidFill>
                  <a:srgbClr val="D0D8F0"/>
                </a:solidFill>
              </a:rPr>
              <a:t>POST /transactions/deposit
Header: X-User-Id
Body: {amount}</a:t>
            </a:r>
          </a:p>
        </p:txBody>
      </p:sp>
      <p:cxnSp>
        <p:nvCxnSpPr>
          <p:cNvPr id="9" name="Connector 8"/>
          <p:cNvCxnSpPr/>
          <p:nvPr/>
        </p:nvCxnSpPr>
        <p:spPr>
          <a:xfrm>
            <a:off x="2240280" y="2286000"/>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423160" y="1234440"/>
            <a:ext cx="2011680" cy="214884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17296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2</a:t>
            </a:r>
          </a:p>
        </p:txBody>
      </p:sp>
      <p:sp>
        <p:nvSpPr>
          <p:cNvPr id="12" name="TextBox 11"/>
          <p:cNvSpPr txBox="1"/>
          <p:nvPr/>
        </p:nvSpPr>
        <p:spPr>
          <a:xfrm>
            <a:off x="2496312" y="1581912"/>
            <a:ext cx="1865376" cy="347472"/>
          </a:xfrm>
          <a:prstGeom prst="rect">
            <a:avLst/>
          </a:prstGeom>
          <a:noFill/>
        </p:spPr>
        <p:txBody>
          <a:bodyPr wrap="square">
            <a:spAutoFit/>
          </a:bodyPr>
          <a:lstStyle/>
          <a:p>
            <a:pPr algn="ctr"/>
            <a:r>
              <a:rPr sz="1000" b="1" i="0">
                <a:solidFill>
                  <a:srgbClr val="FFFFFF"/>
                </a:solidFill>
              </a:rPr>
              <a:t>Transaction
Service</a:t>
            </a:r>
          </a:p>
        </p:txBody>
      </p:sp>
      <p:sp>
        <p:nvSpPr>
          <p:cNvPr id="13" name="TextBox 12"/>
          <p:cNvSpPr txBox="1"/>
          <p:nvPr/>
        </p:nvSpPr>
        <p:spPr>
          <a:xfrm>
            <a:off x="2496312" y="1975104"/>
            <a:ext cx="1865376" cy="1280160"/>
          </a:xfrm>
          <a:prstGeom prst="rect">
            <a:avLst/>
          </a:prstGeom>
          <a:noFill/>
        </p:spPr>
        <p:txBody>
          <a:bodyPr wrap="square">
            <a:spAutoFit/>
          </a:bodyPr>
          <a:lstStyle/>
          <a:p>
            <a:pPr algn="ctr"/>
            <a:r>
              <a:rPr sz="900" b="0" i="0">
                <a:solidFill>
                  <a:srgbClr val="D0D8F0"/>
                </a:solidFill>
              </a:rPr>
              <a:t>Validates user exists
Checks sufficient funds
(for withdraw)</a:t>
            </a:r>
          </a:p>
        </p:txBody>
      </p:sp>
      <p:cxnSp>
        <p:nvCxnSpPr>
          <p:cNvPr id="14" name="Connector 13"/>
          <p:cNvCxnSpPr/>
          <p:nvPr/>
        </p:nvCxnSpPr>
        <p:spPr>
          <a:xfrm>
            <a:off x="4434840" y="2286000"/>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17720" y="1234440"/>
            <a:ext cx="2011680" cy="2148840"/>
          </a:xfrm>
          <a:prstGeom prst="rect">
            <a:avLst/>
          </a:prstGeom>
          <a:solidFill>
            <a:srgbClr val="1A3A1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36752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3</a:t>
            </a:r>
          </a:p>
        </p:txBody>
      </p:sp>
      <p:sp>
        <p:nvSpPr>
          <p:cNvPr id="17" name="TextBox 16"/>
          <p:cNvSpPr txBox="1"/>
          <p:nvPr/>
        </p:nvSpPr>
        <p:spPr>
          <a:xfrm>
            <a:off x="4690872" y="1581912"/>
            <a:ext cx="1865376" cy="347472"/>
          </a:xfrm>
          <a:prstGeom prst="rect">
            <a:avLst/>
          </a:prstGeom>
          <a:noFill/>
        </p:spPr>
        <p:txBody>
          <a:bodyPr wrap="square">
            <a:spAutoFit/>
          </a:bodyPr>
          <a:lstStyle/>
          <a:p>
            <a:pPr algn="ctr"/>
            <a:r>
              <a:rPr sz="1000" b="1" i="0">
                <a:solidFill>
                  <a:srgbClr val="FFFFFF"/>
                </a:solidFill>
              </a:rPr>
              <a:t>PostgreSQL</a:t>
            </a:r>
          </a:p>
        </p:txBody>
      </p:sp>
      <p:sp>
        <p:nvSpPr>
          <p:cNvPr id="18" name="TextBox 17"/>
          <p:cNvSpPr txBox="1"/>
          <p:nvPr/>
        </p:nvSpPr>
        <p:spPr>
          <a:xfrm>
            <a:off x="4690872" y="1975104"/>
            <a:ext cx="1865376" cy="1280160"/>
          </a:xfrm>
          <a:prstGeom prst="rect">
            <a:avLst/>
          </a:prstGeom>
          <a:noFill/>
        </p:spPr>
        <p:txBody>
          <a:bodyPr wrap="square">
            <a:spAutoFit/>
          </a:bodyPr>
          <a:lstStyle/>
          <a:p>
            <a:pPr algn="ctr"/>
            <a:r>
              <a:rPr sz="900" b="0" i="0">
                <a:solidFill>
                  <a:srgbClr val="D0D8F0"/>
                </a:solidFill>
              </a:rPr>
              <a:t>UPDATE accounts
SET balance +/– amount
INSERT transactions row</a:t>
            </a:r>
          </a:p>
        </p:txBody>
      </p:sp>
      <p:cxnSp>
        <p:nvCxnSpPr>
          <p:cNvPr id="19" name="Connector 18"/>
          <p:cNvCxnSpPr/>
          <p:nvPr/>
        </p:nvCxnSpPr>
        <p:spPr>
          <a:xfrm>
            <a:off x="6629400" y="2286000"/>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812280" y="1234440"/>
            <a:ext cx="2011680" cy="2148840"/>
          </a:xfrm>
          <a:prstGeom prst="rect">
            <a:avLst/>
          </a:prstGeom>
          <a:solidFill>
            <a:srgbClr val="3A181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56208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4</a:t>
            </a:r>
          </a:p>
        </p:txBody>
      </p:sp>
      <p:sp>
        <p:nvSpPr>
          <p:cNvPr id="22" name="TextBox 21"/>
          <p:cNvSpPr txBox="1"/>
          <p:nvPr/>
        </p:nvSpPr>
        <p:spPr>
          <a:xfrm>
            <a:off x="6885432" y="1581912"/>
            <a:ext cx="1865376" cy="347472"/>
          </a:xfrm>
          <a:prstGeom prst="rect">
            <a:avLst/>
          </a:prstGeom>
          <a:noFill/>
        </p:spPr>
        <p:txBody>
          <a:bodyPr wrap="square">
            <a:spAutoFit/>
          </a:bodyPr>
          <a:lstStyle/>
          <a:p>
            <a:pPr algn="ctr"/>
            <a:r>
              <a:rPr sz="1000" b="1" i="0">
                <a:solidFill>
                  <a:srgbClr val="FFFFFF"/>
                </a:solidFill>
              </a:rPr>
              <a:t>Redis</a:t>
            </a:r>
          </a:p>
        </p:txBody>
      </p:sp>
      <p:sp>
        <p:nvSpPr>
          <p:cNvPr id="23" name="TextBox 22"/>
          <p:cNvSpPr txBox="1"/>
          <p:nvPr/>
        </p:nvSpPr>
        <p:spPr>
          <a:xfrm>
            <a:off x="6885432" y="1975104"/>
            <a:ext cx="1865376" cy="1280160"/>
          </a:xfrm>
          <a:prstGeom prst="rect">
            <a:avLst/>
          </a:prstGeom>
          <a:noFill/>
        </p:spPr>
        <p:txBody>
          <a:bodyPr wrap="square">
            <a:spAutoFit/>
          </a:bodyPr>
          <a:lstStyle/>
          <a:p>
            <a:pPr algn="ctr"/>
            <a:r>
              <a:rPr sz="900" b="0" i="0">
                <a:solidFill>
                  <a:srgbClr val="D0D8F0"/>
                </a:solidFill>
              </a:rPr>
              <a:t>SET balance:&lt;userId&gt;
= new balance
(cache update)</a:t>
            </a:r>
          </a:p>
        </p:txBody>
      </p:sp>
      <p:cxnSp>
        <p:nvCxnSpPr>
          <p:cNvPr id="24" name="Connector 23"/>
          <p:cNvCxnSpPr/>
          <p:nvPr/>
        </p:nvCxnSpPr>
        <p:spPr>
          <a:xfrm>
            <a:off x="8823960" y="2286000"/>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006840" y="1234440"/>
            <a:ext cx="2011680" cy="2148840"/>
          </a:xfrm>
          <a:prstGeom prst="rect">
            <a:avLst/>
          </a:prstGeom>
          <a:solidFill>
            <a:srgbClr val="1E223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75664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5</a:t>
            </a:r>
          </a:p>
        </p:txBody>
      </p:sp>
      <p:sp>
        <p:nvSpPr>
          <p:cNvPr id="27" name="TextBox 26"/>
          <p:cNvSpPr txBox="1"/>
          <p:nvPr/>
        </p:nvSpPr>
        <p:spPr>
          <a:xfrm>
            <a:off x="9079992" y="1581912"/>
            <a:ext cx="1865376" cy="347472"/>
          </a:xfrm>
          <a:prstGeom prst="rect">
            <a:avLst/>
          </a:prstGeom>
          <a:noFill/>
        </p:spPr>
        <p:txBody>
          <a:bodyPr wrap="square">
            <a:spAutoFit/>
          </a:bodyPr>
          <a:lstStyle/>
          <a:p>
            <a:pPr algn="ctr"/>
            <a:r>
              <a:rPr sz="1000" b="1" i="0">
                <a:solidFill>
                  <a:srgbClr val="FFFFFF"/>
                </a:solidFill>
              </a:rPr>
              <a:t>Kafka</a:t>
            </a:r>
          </a:p>
        </p:txBody>
      </p:sp>
      <p:sp>
        <p:nvSpPr>
          <p:cNvPr id="28" name="TextBox 27"/>
          <p:cNvSpPr txBox="1"/>
          <p:nvPr/>
        </p:nvSpPr>
        <p:spPr>
          <a:xfrm>
            <a:off x="9079992" y="1975104"/>
            <a:ext cx="1865376" cy="1280160"/>
          </a:xfrm>
          <a:prstGeom prst="rect">
            <a:avLst/>
          </a:prstGeom>
          <a:noFill/>
        </p:spPr>
        <p:txBody>
          <a:bodyPr wrap="square">
            <a:spAutoFit/>
          </a:bodyPr>
          <a:lstStyle/>
          <a:p>
            <a:pPr algn="ctr"/>
            <a:r>
              <a:rPr sz="900" b="0" i="0">
                <a:solidFill>
                  <a:srgbClr val="D0D8F0"/>
                </a:solidFill>
              </a:rPr>
              <a:t>PRODUCE event
topic: banking-
transactions</a:t>
            </a:r>
          </a:p>
        </p:txBody>
      </p:sp>
      <p:sp>
        <p:nvSpPr>
          <p:cNvPr id="29" name="Rectangle 28"/>
          <p:cNvSpPr/>
          <p:nvPr/>
        </p:nvSpPr>
        <p:spPr>
          <a:xfrm>
            <a:off x="228600" y="3657600"/>
            <a:ext cx="3840480" cy="2926080"/>
          </a:xfrm>
          <a:prstGeom prst="rect">
            <a:avLst/>
          </a:prstGeom>
          <a:solidFill>
            <a:srgbClr val="0A142E"/>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3749039"/>
            <a:ext cx="3566160" cy="274320"/>
          </a:xfrm>
          <a:prstGeom prst="rect">
            <a:avLst/>
          </a:prstGeom>
          <a:noFill/>
        </p:spPr>
        <p:txBody>
          <a:bodyPr wrap="square">
            <a:spAutoFit/>
          </a:bodyPr>
          <a:lstStyle/>
          <a:p>
            <a:pPr algn="l"/>
            <a:r>
              <a:rPr sz="900" b="1" i="0">
                <a:solidFill>
                  <a:srgbClr val="00B4D8"/>
                </a:solidFill>
              </a:rPr>
              <a:t>WHY REDIS HERE?</a:t>
            </a:r>
          </a:p>
        </p:txBody>
      </p:sp>
      <p:sp>
        <p:nvSpPr>
          <p:cNvPr id="31" name="TextBox 30"/>
          <p:cNvSpPr txBox="1"/>
          <p:nvPr/>
        </p:nvSpPr>
        <p:spPr>
          <a:xfrm>
            <a:off x="365760" y="4096512"/>
            <a:ext cx="3566160" cy="2286000"/>
          </a:xfrm>
          <a:prstGeom prst="rect">
            <a:avLst/>
          </a:prstGeom>
          <a:noFill/>
        </p:spPr>
        <p:txBody>
          <a:bodyPr wrap="square">
            <a:spAutoFit/>
          </a:bodyPr>
          <a:lstStyle/>
          <a:p>
            <a:pPr algn="l"/>
            <a:r>
              <a:rPr sz="950" b="0" i="0">
                <a:solidFill>
                  <a:srgbClr val="D0D8F0"/>
                </a:solidFill>
              </a:rPr>
              <a:t>Every write updates Redis immediately so the next balance read is served from cache — no extra DB query needed.</a:t>
            </a:r>
          </a:p>
        </p:txBody>
      </p:sp>
      <p:sp>
        <p:nvSpPr>
          <p:cNvPr id="32" name="Rectangle 31"/>
          <p:cNvSpPr/>
          <p:nvPr/>
        </p:nvSpPr>
        <p:spPr>
          <a:xfrm>
            <a:off x="4297680" y="3657600"/>
            <a:ext cx="3840480" cy="2926080"/>
          </a:xfrm>
          <a:prstGeom prst="rect">
            <a:avLst/>
          </a:prstGeom>
          <a:solidFill>
            <a:srgbClr val="0A142E"/>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34840" y="3749039"/>
            <a:ext cx="3566160" cy="274320"/>
          </a:xfrm>
          <a:prstGeom prst="rect">
            <a:avLst/>
          </a:prstGeom>
          <a:noFill/>
        </p:spPr>
        <p:txBody>
          <a:bodyPr wrap="square">
            <a:spAutoFit/>
          </a:bodyPr>
          <a:lstStyle/>
          <a:p>
            <a:pPr algn="l"/>
            <a:r>
              <a:rPr sz="900" b="1" i="0">
                <a:solidFill>
                  <a:srgbClr val="FFB700"/>
                </a:solidFill>
              </a:rPr>
              <a:t>WHY KAFKA HERE?</a:t>
            </a:r>
          </a:p>
        </p:txBody>
      </p:sp>
      <p:sp>
        <p:nvSpPr>
          <p:cNvPr id="34" name="TextBox 33"/>
          <p:cNvSpPr txBox="1"/>
          <p:nvPr/>
        </p:nvSpPr>
        <p:spPr>
          <a:xfrm>
            <a:off x="4434840" y="4096512"/>
            <a:ext cx="3566160" cy="2286000"/>
          </a:xfrm>
          <a:prstGeom prst="rect">
            <a:avLst/>
          </a:prstGeom>
          <a:noFill/>
        </p:spPr>
        <p:txBody>
          <a:bodyPr wrap="square">
            <a:spAutoFit/>
          </a:bodyPr>
          <a:lstStyle/>
          <a:p>
            <a:pPr algn="l"/>
            <a:r>
              <a:rPr sz="950" b="0" i="0">
                <a:solidFill>
                  <a:srgbClr val="D0D8F0"/>
                </a:solidFill>
              </a:rPr>
              <a:t>The Transaction Service does not call the Activity Service directly. Kafka decouples them — the transaction completes instantly; activity logging happens asynchronously.</a:t>
            </a:r>
          </a:p>
        </p:txBody>
      </p:sp>
      <p:sp>
        <p:nvSpPr>
          <p:cNvPr id="35" name="Rectangle 34"/>
          <p:cNvSpPr/>
          <p:nvPr/>
        </p:nvSpPr>
        <p:spPr>
          <a:xfrm>
            <a:off x="8458200" y="3657600"/>
            <a:ext cx="3840480" cy="2926080"/>
          </a:xfrm>
          <a:prstGeom prst="rect">
            <a:avLst/>
          </a:prstGeom>
          <a:solidFill>
            <a:srgbClr val="0A142E"/>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95360" y="3749039"/>
            <a:ext cx="3566160" cy="274320"/>
          </a:xfrm>
          <a:prstGeom prst="rect">
            <a:avLst/>
          </a:prstGeom>
          <a:noFill/>
        </p:spPr>
        <p:txBody>
          <a:bodyPr wrap="square">
            <a:spAutoFit/>
          </a:bodyPr>
          <a:lstStyle/>
          <a:p>
            <a:pPr algn="l"/>
            <a:r>
              <a:rPr sz="900" b="1" i="0">
                <a:solidFill>
                  <a:srgbClr val="2DC683"/>
                </a:solidFill>
              </a:rPr>
              <a:t>FAILURE SAFETY</a:t>
            </a:r>
          </a:p>
        </p:txBody>
      </p:sp>
      <p:sp>
        <p:nvSpPr>
          <p:cNvPr id="37" name="TextBox 36"/>
          <p:cNvSpPr txBox="1"/>
          <p:nvPr/>
        </p:nvSpPr>
        <p:spPr>
          <a:xfrm>
            <a:off x="8595360" y="4096512"/>
            <a:ext cx="3566160" cy="2286000"/>
          </a:xfrm>
          <a:prstGeom prst="rect">
            <a:avLst/>
          </a:prstGeom>
          <a:noFill/>
        </p:spPr>
        <p:txBody>
          <a:bodyPr wrap="square">
            <a:spAutoFit/>
          </a:bodyPr>
          <a:lstStyle/>
          <a:p>
            <a:pPr algn="l"/>
            <a:r>
              <a:rPr sz="950" b="0" i="0">
                <a:solidFill>
                  <a:srgbClr val="D0D8F0"/>
                </a:solidFill>
              </a:rPr>
              <a:t>If Redis is down the balance write to PostgreSQL still succeeds. Redis is cache-only; Postgres is source of truth.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3 — Balance Read (Cache-First)</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Transaction Service  ›  Redis  ›  PostgreSQL (fallback)</a:t>
            </a:r>
          </a:p>
        </p:txBody>
      </p:sp>
      <p:sp>
        <p:nvSpPr>
          <p:cNvPr id="5" name="Rectangle 4"/>
          <p:cNvSpPr/>
          <p:nvPr/>
        </p:nvSpPr>
        <p:spPr>
          <a:xfrm>
            <a:off x="274320" y="1234440"/>
            <a:ext cx="1920240" cy="68580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307592"/>
            <a:ext cx="1737360" cy="274320"/>
          </a:xfrm>
          <a:prstGeom prst="rect">
            <a:avLst/>
          </a:prstGeom>
          <a:noFill/>
        </p:spPr>
        <p:txBody>
          <a:bodyPr wrap="square">
            <a:spAutoFit/>
          </a:bodyPr>
          <a:lstStyle/>
          <a:p>
            <a:pPr algn="ctr"/>
            <a:r>
              <a:rPr sz="1000" b="1" i="0">
                <a:solidFill>
                  <a:srgbClr val="FFFFFF"/>
                </a:solidFill>
              </a:rPr>
              <a:t>Browser</a:t>
            </a:r>
          </a:p>
        </p:txBody>
      </p:sp>
      <p:sp>
        <p:nvSpPr>
          <p:cNvPr id="7" name="TextBox 6"/>
          <p:cNvSpPr txBox="1"/>
          <p:nvPr/>
        </p:nvSpPr>
        <p:spPr>
          <a:xfrm>
            <a:off x="365760" y="1572768"/>
            <a:ext cx="1737360" cy="274320"/>
          </a:xfrm>
          <a:prstGeom prst="rect">
            <a:avLst/>
          </a:prstGeom>
          <a:noFill/>
        </p:spPr>
        <p:txBody>
          <a:bodyPr wrap="square">
            <a:spAutoFit/>
          </a:bodyPr>
          <a:lstStyle/>
          <a:p>
            <a:pPr algn="ctr"/>
            <a:r>
              <a:rPr sz="850" b="0" i="0">
                <a:solidFill>
                  <a:srgbClr val="D0D8F0"/>
                </a:solidFill>
              </a:rPr>
              <a:t>GET /balance/{userId}</a:t>
            </a:r>
          </a:p>
        </p:txBody>
      </p:sp>
      <p:cxnSp>
        <p:nvCxnSpPr>
          <p:cNvPr id="8" name="Connector 7"/>
          <p:cNvCxnSpPr/>
          <p:nvPr/>
        </p:nvCxnSpPr>
        <p:spPr>
          <a:xfrm>
            <a:off x="2194560" y="1572768"/>
            <a:ext cx="50292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697480" y="1234440"/>
            <a:ext cx="2103120" cy="68580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88920" y="1307592"/>
            <a:ext cx="1920240" cy="274320"/>
          </a:xfrm>
          <a:prstGeom prst="rect">
            <a:avLst/>
          </a:prstGeom>
          <a:noFill/>
        </p:spPr>
        <p:txBody>
          <a:bodyPr wrap="square">
            <a:spAutoFit/>
          </a:bodyPr>
          <a:lstStyle/>
          <a:p>
            <a:pPr algn="ctr"/>
            <a:r>
              <a:rPr sz="1000" b="1" i="0">
                <a:solidFill>
                  <a:srgbClr val="FFFFFF"/>
                </a:solidFill>
              </a:rPr>
              <a:t>Transaction Service</a:t>
            </a:r>
          </a:p>
        </p:txBody>
      </p:sp>
      <p:sp>
        <p:nvSpPr>
          <p:cNvPr id="11" name="TextBox 10"/>
          <p:cNvSpPr txBox="1"/>
          <p:nvPr/>
        </p:nvSpPr>
        <p:spPr>
          <a:xfrm>
            <a:off x="2788920" y="1572768"/>
            <a:ext cx="1920240" cy="274320"/>
          </a:xfrm>
          <a:prstGeom prst="rect">
            <a:avLst/>
          </a:prstGeom>
          <a:noFill/>
        </p:spPr>
        <p:txBody>
          <a:bodyPr wrap="square">
            <a:spAutoFit/>
          </a:bodyPr>
          <a:lstStyle/>
          <a:p>
            <a:pPr algn="ctr"/>
            <a:r>
              <a:rPr sz="850" b="0" i="0">
                <a:solidFill>
                  <a:srgbClr val="D0D8F0"/>
                </a:solidFill>
              </a:rPr>
              <a:t>Receives request</a:t>
            </a:r>
          </a:p>
        </p:txBody>
      </p:sp>
      <p:cxnSp>
        <p:nvCxnSpPr>
          <p:cNvPr id="12" name="Connector 11"/>
          <p:cNvCxnSpPr/>
          <p:nvPr/>
        </p:nvCxnSpPr>
        <p:spPr>
          <a:xfrm>
            <a:off x="4800600" y="1572768"/>
            <a:ext cx="5486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349240" y="1234440"/>
            <a:ext cx="2103120" cy="685800"/>
          </a:xfrm>
          <a:prstGeom prst="rect">
            <a:avLst/>
          </a:prstGeom>
          <a:solidFill>
            <a:srgbClr val="3A1810"/>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40680" y="1307592"/>
            <a:ext cx="1920240" cy="274320"/>
          </a:xfrm>
          <a:prstGeom prst="rect">
            <a:avLst/>
          </a:prstGeom>
          <a:noFill/>
        </p:spPr>
        <p:txBody>
          <a:bodyPr wrap="square">
            <a:spAutoFit/>
          </a:bodyPr>
          <a:lstStyle/>
          <a:p>
            <a:pPr algn="ctr"/>
            <a:r>
              <a:rPr sz="1000" b="1" i="0">
                <a:solidFill>
                  <a:srgbClr val="FFB700"/>
                </a:solidFill>
              </a:rPr>
              <a:t>Redis</a:t>
            </a:r>
          </a:p>
        </p:txBody>
      </p:sp>
      <p:sp>
        <p:nvSpPr>
          <p:cNvPr id="15" name="TextBox 14"/>
          <p:cNvSpPr txBox="1"/>
          <p:nvPr/>
        </p:nvSpPr>
        <p:spPr>
          <a:xfrm>
            <a:off x="5440680" y="1572768"/>
            <a:ext cx="1920240" cy="274320"/>
          </a:xfrm>
          <a:prstGeom prst="rect">
            <a:avLst/>
          </a:prstGeom>
          <a:noFill/>
        </p:spPr>
        <p:txBody>
          <a:bodyPr wrap="square">
            <a:spAutoFit/>
          </a:bodyPr>
          <a:lstStyle/>
          <a:p>
            <a:pPr algn="ctr"/>
            <a:r>
              <a:rPr sz="850" b="0" i="0">
                <a:solidFill>
                  <a:srgbClr val="D0D8F0"/>
                </a:solidFill>
              </a:rPr>
              <a:t>GET balance:&lt;userId&gt;</a:t>
            </a:r>
          </a:p>
        </p:txBody>
      </p:sp>
      <p:sp>
        <p:nvSpPr>
          <p:cNvPr id="16" name="Rectangle 15"/>
          <p:cNvSpPr/>
          <p:nvPr/>
        </p:nvSpPr>
        <p:spPr>
          <a:xfrm>
            <a:off x="5349240" y="2286000"/>
            <a:ext cx="2103120" cy="1005840"/>
          </a:xfrm>
          <a:prstGeom prst="rect">
            <a:avLst/>
          </a:prstGeom>
          <a:solidFill>
            <a:srgbClr val="0D2E1A"/>
          </a:solidFill>
          <a:ln w="1524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60720" y="2304288"/>
            <a:ext cx="1280160" cy="237744"/>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50" b="1">
                <a:solidFill>
                  <a:srgbClr val="0D1B3E"/>
                </a:solidFill>
              </a:rPr>
              <a:t>CACHE HIT</a:t>
            </a:r>
          </a:p>
        </p:txBody>
      </p:sp>
      <p:sp>
        <p:nvSpPr>
          <p:cNvPr id="18" name="TextBox 17"/>
          <p:cNvSpPr txBox="1"/>
          <p:nvPr/>
        </p:nvSpPr>
        <p:spPr>
          <a:xfrm>
            <a:off x="5440680" y="2578608"/>
            <a:ext cx="1920240" cy="685800"/>
          </a:xfrm>
          <a:prstGeom prst="rect">
            <a:avLst/>
          </a:prstGeom>
          <a:noFill/>
        </p:spPr>
        <p:txBody>
          <a:bodyPr wrap="square">
            <a:spAutoFit/>
          </a:bodyPr>
          <a:lstStyle/>
          <a:p>
            <a:pPr algn="ctr"/>
            <a:r>
              <a:rPr sz="900" b="0" i="0">
                <a:solidFill>
                  <a:srgbClr val="D0D8F0"/>
                </a:solidFill>
              </a:rPr>
              <a:t>→ Return cached value
immediately
No DB query</a:t>
            </a:r>
          </a:p>
        </p:txBody>
      </p:sp>
      <p:cxnSp>
        <p:nvCxnSpPr>
          <p:cNvPr id="19" name="Connector 18"/>
          <p:cNvCxnSpPr/>
          <p:nvPr/>
        </p:nvCxnSpPr>
        <p:spPr>
          <a:xfrm>
            <a:off x="6400800" y="1920240"/>
            <a:ext cx="0" cy="36576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955279" y="1234440"/>
            <a:ext cx="2103120" cy="685800"/>
          </a:xfrm>
          <a:prstGeom prst="rect">
            <a:avLst/>
          </a:prstGeom>
          <a:solidFill>
            <a:srgbClr val="1A3A1A"/>
          </a:solidFill>
          <a:ln w="1524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20" y="1307592"/>
            <a:ext cx="1920240" cy="274320"/>
          </a:xfrm>
          <a:prstGeom prst="rect">
            <a:avLst/>
          </a:prstGeom>
          <a:noFill/>
        </p:spPr>
        <p:txBody>
          <a:bodyPr wrap="square">
            <a:spAutoFit/>
          </a:bodyPr>
          <a:lstStyle/>
          <a:p>
            <a:pPr algn="ctr"/>
            <a:r>
              <a:rPr sz="1000" b="1" i="0">
                <a:solidFill>
                  <a:srgbClr val="2DC683"/>
                </a:solidFill>
              </a:rPr>
              <a:t>PostgreSQL</a:t>
            </a:r>
          </a:p>
        </p:txBody>
      </p:sp>
      <p:sp>
        <p:nvSpPr>
          <p:cNvPr id="22" name="TextBox 21"/>
          <p:cNvSpPr txBox="1"/>
          <p:nvPr/>
        </p:nvSpPr>
        <p:spPr>
          <a:xfrm>
            <a:off x="8046720" y="1572768"/>
            <a:ext cx="1920240" cy="274320"/>
          </a:xfrm>
          <a:prstGeom prst="rect">
            <a:avLst/>
          </a:prstGeom>
          <a:noFill/>
        </p:spPr>
        <p:txBody>
          <a:bodyPr wrap="square">
            <a:spAutoFit/>
          </a:bodyPr>
          <a:lstStyle/>
          <a:p>
            <a:pPr algn="ctr"/>
            <a:r>
              <a:rPr sz="850" b="0" i="0">
                <a:solidFill>
                  <a:srgbClr val="D0D8F0"/>
                </a:solidFill>
              </a:rPr>
              <a:t>SELECT accounts
WHERE user_id=?</a:t>
            </a:r>
          </a:p>
        </p:txBody>
      </p:sp>
      <p:cxnSp>
        <p:nvCxnSpPr>
          <p:cNvPr id="23" name="Connector 22"/>
          <p:cNvCxnSpPr/>
          <p:nvPr/>
        </p:nvCxnSpPr>
        <p:spPr>
          <a:xfrm>
            <a:off x="7452360" y="1572768"/>
            <a:ext cx="50292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498079" y="1417320"/>
            <a:ext cx="1280160" cy="201168"/>
          </a:xfrm>
          <a:prstGeom prst="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800" b="1">
                <a:solidFill>
                  <a:srgbClr val="FFFFFF"/>
                </a:solidFill>
              </a:rPr>
              <a:t>CACHE MISS</a:t>
            </a:r>
          </a:p>
        </p:txBody>
      </p:sp>
      <p:cxnSp>
        <p:nvCxnSpPr>
          <p:cNvPr id="25" name="Connector 24"/>
          <p:cNvCxnSpPr/>
          <p:nvPr/>
        </p:nvCxnSpPr>
        <p:spPr>
          <a:xfrm flipH="1">
            <a:off x="5715000" y="2468880"/>
            <a:ext cx="173736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77840" y="2286000"/>
            <a:ext cx="2468880" cy="256032"/>
          </a:xfrm>
          <a:prstGeom prst="rect">
            <a:avLst/>
          </a:prstGeom>
          <a:noFill/>
        </p:spPr>
        <p:txBody>
          <a:bodyPr wrap="square">
            <a:spAutoFit/>
          </a:bodyPr>
          <a:lstStyle/>
          <a:p>
            <a:pPr algn="l"/>
            <a:r>
              <a:rPr sz="850" b="0" i="1">
                <a:solidFill>
                  <a:srgbClr val="FFB700"/>
                </a:solidFill>
              </a:rPr>
              <a:t>Write result back to Redis cache</a:t>
            </a:r>
          </a:p>
        </p:txBody>
      </p:sp>
      <p:sp>
        <p:nvSpPr>
          <p:cNvPr id="27" name="Rectangle 26"/>
          <p:cNvSpPr/>
          <p:nvPr/>
        </p:nvSpPr>
        <p:spPr>
          <a:xfrm>
            <a:off x="8686800" y="2286000"/>
            <a:ext cx="2103120" cy="100584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78240" y="2487168"/>
            <a:ext cx="1920240" cy="256032"/>
          </a:xfrm>
          <a:prstGeom prst="rect">
            <a:avLst/>
          </a:prstGeom>
          <a:noFill/>
        </p:spPr>
        <p:txBody>
          <a:bodyPr wrap="square">
            <a:spAutoFit/>
          </a:bodyPr>
          <a:lstStyle/>
          <a:p>
            <a:pPr algn="ctr"/>
            <a:r>
              <a:rPr sz="900" b="0" i="0">
                <a:solidFill>
                  <a:srgbClr val="FFFFFF"/>
                </a:solidFill>
              </a:rPr>
              <a:t>Return to Browser</a:t>
            </a:r>
          </a:p>
        </p:txBody>
      </p:sp>
      <p:sp>
        <p:nvSpPr>
          <p:cNvPr id="29" name="TextBox 28"/>
          <p:cNvSpPr txBox="1"/>
          <p:nvPr/>
        </p:nvSpPr>
        <p:spPr>
          <a:xfrm>
            <a:off x="8778240" y="2743200"/>
            <a:ext cx="1920240" cy="256032"/>
          </a:xfrm>
          <a:prstGeom prst="rect">
            <a:avLst/>
          </a:prstGeom>
          <a:noFill/>
        </p:spPr>
        <p:txBody>
          <a:bodyPr wrap="square">
            <a:spAutoFit/>
          </a:bodyPr>
          <a:lstStyle/>
          <a:p>
            <a:pPr algn="ctr"/>
            <a:r>
              <a:rPr sz="900" b="0" i="1">
                <a:solidFill>
                  <a:srgbClr val="D0D8F0"/>
                </a:solidFill>
              </a:rPr>
              <a:t>{balance: 1500.00}</a:t>
            </a:r>
          </a:p>
        </p:txBody>
      </p:sp>
      <p:cxnSp>
        <p:nvCxnSpPr>
          <p:cNvPr id="30" name="Connector 29"/>
          <p:cNvCxnSpPr/>
          <p:nvPr/>
        </p:nvCxnSpPr>
        <p:spPr>
          <a:xfrm>
            <a:off x="8823960" y="1920240"/>
            <a:ext cx="0" cy="36576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274320" y="3840480"/>
            <a:ext cx="11612880" cy="2743200"/>
          </a:xfrm>
          <a:prstGeom prst="rect">
            <a:avLst/>
          </a:prstGeom>
          <a:solidFill>
            <a:srgbClr val="0A142E"/>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8640" y="3931920"/>
            <a:ext cx="7315200" cy="274320"/>
          </a:xfrm>
          <a:prstGeom prst="rect">
            <a:avLst/>
          </a:prstGeom>
          <a:noFill/>
        </p:spPr>
        <p:txBody>
          <a:bodyPr wrap="square">
            <a:spAutoFit/>
          </a:bodyPr>
          <a:lstStyle/>
          <a:p>
            <a:pPr algn="l"/>
            <a:r>
              <a:rPr sz="1000" b="1" i="0">
                <a:solidFill>
                  <a:srgbClr val="FFB700"/>
                </a:solidFill>
              </a:rPr>
              <a:t>HOW REDIS CACHING WORKS IN THIS SYSTEM</a:t>
            </a:r>
          </a:p>
        </p:txBody>
      </p:sp>
      <p:sp>
        <p:nvSpPr>
          <p:cNvPr id="33" name="Rectangle 32"/>
          <p:cNvSpPr/>
          <p:nvPr/>
        </p:nvSpPr>
        <p:spPr>
          <a:xfrm>
            <a:off x="274320" y="4251960"/>
            <a:ext cx="11612880" cy="1828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 y="4343400"/>
            <a:ext cx="11247120" cy="347472"/>
          </a:xfrm>
          <a:prstGeom prst="rect">
            <a:avLst/>
          </a:prstGeom>
          <a:noFill/>
        </p:spPr>
        <p:txBody>
          <a:bodyPr wrap="square">
            <a:spAutoFit/>
          </a:bodyPr>
          <a:lstStyle/>
          <a:p>
            <a:r>
              <a:rPr sz="1000" b="1">
                <a:solidFill>
                  <a:srgbClr val="FFFFFF"/>
                </a:solidFill>
              </a:rPr>
              <a:t>Cache is always current — </a:t>
            </a:r>
            <a:r>
              <a:rPr sz="1000">
                <a:solidFill>
                  <a:srgbClr val="D0D8F0"/>
                </a:solidFill>
              </a:rPr>
              <a:t>every deposit, withdrawal, or transfer immediately updates the Redis key before responding to the client.</a:t>
            </a:r>
          </a:p>
        </p:txBody>
      </p:sp>
      <p:sp>
        <p:nvSpPr>
          <p:cNvPr id="35" name="TextBox 34"/>
          <p:cNvSpPr txBox="1"/>
          <p:nvPr/>
        </p:nvSpPr>
        <p:spPr>
          <a:xfrm>
            <a:off x="502920" y="4727448"/>
            <a:ext cx="11247120" cy="347472"/>
          </a:xfrm>
          <a:prstGeom prst="rect">
            <a:avLst/>
          </a:prstGeom>
          <a:noFill/>
        </p:spPr>
        <p:txBody>
          <a:bodyPr wrap="square">
            <a:spAutoFit/>
          </a:bodyPr>
          <a:lstStyle/>
          <a:p>
            <a:r>
              <a:rPr sz="1000" b="1">
                <a:solidFill>
                  <a:srgbClr val="FFFFFF"/>
                </a:solidFill>
              </a:rPr>
              <a:t>Cache key format — </a:t>
            </a:r>
            <a:r>
              <a:rPr sz="1000">
                <a:solidFill>
                  <a:srgbClr val="D0D8F0"/>
                </a:solidFill>
              </a:rPr>
              <a:t>"balance:&lt;userId&gt;"  e.g.  balance:u001  →  "1500.00"</a:t>
            </a:r>
          </a:p>
        </p:txBody>
      </p:sp>
      <p:sp>
        <p:nvSpPr>
          <p:cNvPr id="36" name="TextBox 35"/>
          <p:cNvSpPr txBox="1"/>
          <p:nvPr/>
        </p:nvSpPr>
        <p:spPr>
          <a:xfrm>
            <a:off x="502920" y="5111496"/>
            <a:ext cx="11247120" cy="347472"/>
          </a:xfrm>
          <a:prstGeom prst="rect">
            <a:avLst/>
          </a:prstGeom>
          <a:noFill/>
        </p:spPr>
        <p:txBody>
          <a:bodyPr wrap="square">
            <a:spAutoFit/>
          </a:bodyPr>
          <a:lstStyle/>
          <a:p>
            <a:r>
              <a:rPr sz="1000" b="1">
                <a:solidFill>
                  <a:srgbClr val="FFFFFF"/>
                </a:solidFill>
              </a:rPr>
              <a:t>TTL — </a:t>
            </a:r>
            <a:r>
              <a:rPr sz="1000">
                <a:solidFill>
                  <a:srgbClr val="D0D8F0"/>
                </a:solidFill>
              </a:rPr>
              <a:t>No expiry is set. The cache entry lives until it is overwritten by the next transaction.</a:t>
            </a:r>
          </a:p>
        </p:txBody>
      </p:sp>
      <p:sp>
        <p:nvSpPr>
          <p:cNvPr id="37" name="TextBox 36"/>
          <p:cNvSpPr txBox="1"/>
          <p:nvPr/>
        </p:nvSpPr>
        <p:spPr>
          <a:xfrm>
            <a:off x="502920" y="5495544"/>
            <a:ext cx="11247120" cy="347472"/>
          </a:xfrm>
          <a:prstGeom prst="rect">
            <a:avLst/>
          </a:prstGeom>
          <a:noFill/>
        </p:spPr>
        <p:txBody>
          <a:bodyPr wrap="square">
            <a:spAutoFit/>
          </a:bodyPr>
          <a:lstStyle/>
          <a:p>
            <a:r>
              <a:rPr sz="1000" b="1">
                <a:solidFill>
                  <a:srgbClr val="FFFFFF"/>
                </a:solidFill>
              </a:rPr>
              <a:t>Fallback — </a:t>
            </a:r>
            <a:r>
              <a:rPr sz="1000">
                <a:solidFill>
                  <a:srgbClr val="D0D8F0"/>
                </a:solidFill>
              </a:rPr>
              <a:t>If Redis is unavailable the service falls back to PostgreSQL. The cache is an optimisation, not a dependency.</a:t>
            </a:r>
          </a:p>
        </p:txBody>
      </p:sp>
      <p:sp>
        <p:nvSpPr>
          <p:cNvPr id="38" name="TextBox 37"/>
          <p:cNvSpPr txBox="1"/>
          <p:nvPr/>
        </p:nvSpPr>
        <p:spPr>
          <a:xfrm>
            <a:off x="502920" y="5879592"/>
            <a:ext cx="11247120" cy="347472"/>
          </a:xfrm>
          <a:prstGeom prst="rect">
            <a:avLst/>
          </a:prstGeom>
          <a:noFill/>
        </p:spPr>
        <p:txBody>
          <a:bodyPr wrap="square">
            <a:spAutoFit/>
          </a:bodyPr>
          <a:lstStyle/>
          <a:p>
            <a:r>
              <a:rPr sz="1000" b="1">
                <a:solidFill>
                  <a:srgbClr val="FFFFFF"/>
                </a:solidFill>
              </a:rPr>
              <a:t>Redis is NOT the source of truth — </a:t>
            </a:r>
            <a:r>
              <a:rPr sz="1000">
                <a:solidFill>
                  <a:srgbClr val="D0D8F0"/>
                </a:solidFill>
              </a:rPr>
              <a:t>PostgreSQL holds the authoritative balance. Redis holds a copy of the last known value.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4 — Kafka &amp; Activity Logging</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Async event pipeline: Transaction Service  ›  Kafka  ›  Activity Service  ›  PostgreSQL</a:t>
            </a:r>
          </a:p>
        </p:txBody>
      </p:sp>
      <p:sp>
        <p:nvSpPr>
          <p:cNvPr id="5" name="Rectangle 4"/>
          <p:cNvSpPr/>
          <p:nvPr/>
        </p:nvSpPr>
        <p:spPr>
          <a:xfrm>
            <a:off x="274320" y="1188720"/>
            <a:ext cx="2194560" cy="73152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261872"/>
            <a:ext cx="2011680" cy="274320"/>
          </a:xfrm>
          <a:prstGeom prst="rect">
            <a:avLst/>
          </a:prstGeom>
          <a:noFill/>
        </p:spPr>
        <p:txBody>
          <a:bodyPr wrap="square">
            <a:spAutoFit/>
          </a:bodyPr>
          <a:lstStyle/>
          <a:p>
            <a:pPr algn="ctr"/>
            <a:r>
              <a:rPr sz="1000" b="1" i="0">
                <a:solidFill>
                  <a:srgbClr val="FFFFFF"/>
                </a:solidFill>
              </a:rPr>
              <a:t>Transaction Service</a:t>
            </a:r>
          </a:p>
        </p:txBody>
      </p:sp>
      <p:sp>
        <p:nvSpPr>
          <p:cNvPr id="7" name="TextBox 6"/>
          <p:cNvSpPr txBox="1"/>
          <p:nvPr/>
        </p:nvSpPr>
        <p:spPr>
          <a:xfrm>
            <a:off x="365760" y="1508760"/>
            <a:ext cx="2011680" cy="228600"/>
          </a:xfrm>
          <a:prstGeom prst="rect">
            <a:avLst/>
          </a:prstGeom>
          <a:noFill/>
        </p:spPr>
        <p:txBody>
          <a:bodyPr wrap="square">
            <a:spAutoFit/>
          </a:bodyPr>
          <a:lstStyle/>
          <a:p>
            <a:pPr algn="ctr"/>
            <a:r>
              <a:rPr sz="850" b="0" i="0">
                <a:solidFill>
                  <a:srgbClr val="00B4D8"/>
                </a:solidFill>
              </a:rPr>
              <a:t>(PRODUCER)</a:t>
            </a:r>
          </a:p>
        </p:txBody>
      </p:sp>
      <p:cxnSp>
        <p:nvCxnSpPr>
          <p:cNvPr id="8" name="Connector 7"/>
          <p:cNvCxnSpPr/>
          <p:nvPr/>
        </p:nvCxnSpPr>
        <p:spPr>
          <a:xfrm>
            <a:off x="2468880" y="1554480"/>
            <a:ext cx="6400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108960" y="1005840"/>
            <a:ext cx="2926080" cy="1188720"/>
          </a:xfrm>
          <a:prstGeom prst="rect">
            <a:avLst/>
          </a:prstGeom>
          <a:solidFill>
            <a:srgbClr val="1E223A"/>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0" y="1051560"/>
            <a:ext cx="2743200" cy="274320"/>
          </a:xfrm>
          <a:prstGeom prst="rect">
            <a:avLst/>
          </a:prstGeom>
          <a:noFill/>
        </p:spPr>
        <p:txBody>
          <a:bodyPr wrap="square">
            <a:spAutoFit/>
          </a:bodyPr>
          <a:lstStyle/>
          <a:p>
            <a:pPr algn="ctr"/>
            <a:r>
              <a:rPr sz="1100" b="1" i="0">
                <a:solidFill>
                  <a:srgbClr val="00B4D8"/>
                </a:solidFill>
              </a:rPr>
              <a:t>Kafka Topic</a:t>
            </a:r>
          </a:p>
        </p:txBody>
      </p:sp>
      <p:sp>
        <p:nvSpPr>
          <p:cNvPr id="11" name="TextBox 10"/>
          <p:cNvSpPr txBox="1"/>
          <p:nvPr/>
        </p:nvSpPr>
        <p:spPr>
          <a:xfrm>
            <a:off x="3200400" y="1325880"/>
            <a:ext cx="2743200" cy="228600"/>
          </a:xfrm>
          <a:prstGeom prst="rect">
            <a:avLst/>
          </a:prstGeom>
          <a:noFill/>
        </p:spPr>
        <p:txBody>
          <a:bodyPr wrap="square">
            <a:spAutoFit/>
          </a:bodyPr>
          <a:lstStyle/>
          <a:p>
            <a:pPr algn="ctr"/>
            <a:r>
              <a:rPr sz="900" b="0" i="1">
                <a:solidFill>
                  <a:srgbClr val="FFFFFF"/>
                </a:solidFill>
              </a:rPr>
              <a:t>"banking-transactions"</a:t>
            </a:r>
          </a:p>
        </p:txBody>
      </p:sp>
      <p:sp>
        <p:nvSpPr>
          <p:cNvPr id="12" name="Rectangle 11"/>
          <p:cNvSpPr/>
          <p:nvPr/>
        </p:nvSpPr>
        <p:spPr>
          <a:xfrm>
            <a:off x="3246120" y="1600200"/>
            <a:ext cx="749808" cy="4572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82696" y="1664208"/>
            <a:ext cx="676656" cy="274320"/>
          </a:xfrm>
          <a:prstGeom prst="rect">
            <a:avLst/>
          </a:prstGeom>
          <a:noFill/>
        </p:spPr>
        <p:txBody>
          <a:bodyPr wrap="square">
            <a:spAutoFit/>
          </a:bodyPr>
          <a:lstStyle/>
          <a:p>
            <a:pPr algn="ctr"/>
            <a:r>
              <a:rPr sz="750" b="0" i="0">
                <a:solidFill>
                  <a:srgbClr val="D0D8F0"/>
                </a:solidFill>
              </a:rPr>
              <a:t>Partition 0</a:t>
            </a:r>
          </a:p>
        </p:txBody>
      </p:sp>
      <p:sp>
        <p:nvSpPr>
          <p:cNvPr id="14" name="Rectangle 13"/>
          <p:cNvSpPr/>
          <p:nvPr/>
        </p:nvSpPr>
        <p:spPr>
          <a:xfrm>
            <a:off x="4114800" y="1600200"/>
            <a:ext cx="749808" cy="4572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51376" y="1664208"/>
            <a:ext cx="676656" cy="274320"/>
          </a:xfrm>
          <a:prstGeom prst="rect">
            <a:avLst/>
          </a:prstGeom>
          <a:noFill/>
        </p:spPr>
        <p:txBody>
          <a:bodyPr wrap="square">
            <a:spAutoFit/>
          </a:bodyPr>
          <a:lstStyle/>
          <a:p>
            <a:pPr algn="ctr"/>
            <a:r>
              <a:rPr sz="750" b="0" i="0">
                <a:solidFill>
                  <a:srgbClr val="D0D8F0"/>
                </a:solidFill>
              </a:rPr>
              <a:t>Partition 1</a:t>
            </a:r>
          </a:p>
        </p:txBody>
      </p:sp>
      <p:sp>
        <p:nvSpPr>
          <p:cNvPr id="16" name="Rectangle 15"/>
          <p:cNvSpPr/>
          <p:nvPr/>
        </p:nvSpPr>
        <p:spPr>
          <a:xfrm>
            <a:off x="4983479" y="1600200"/>
            <a:ext cx="749808" cy="4572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0055" y="1664208"/>
            <a:ext cx="676656" cy="274320"/>
          </a:xfrm>
          <a:prstGeom prst="rect">
            <a:avLst/>
          </a:prstGeom>
          <a:noFill/>
        </p:spPr>
        <p:txBody>
          <a:bodyPr wrap="square">
            <a:spAutoFit/>
          </a:bodyPr>
          <a:lstStyle/>
          <a:p>
            <a:pPr algn="ctr"/>
            <a:r>
              <a:rPr sz="750" b="0" i="0">
                <a:solidFill>
                  <a:srgbClr val="D0D8F0"/>
                </a:solidFill>
              </a:rPr>
              <a:t>Partition 2</a:t>
            </a:r>
          </a:p>
        </p:txBody>
      </p:sp>
      <p:cxnSp>
        <p:nvCxnSpPr>
          <p:cNvPr id="18" name="Connector 17"/>
          <p:cNvCxnSpPr/>
          <p:nvPr/>
        </p:nvCxnSpPr>
        <p:spPr>
          <a:xfrm>
            <a:off x="6035040" y="1554480"/>
            <a:ext cx="6400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675120" y="1005840"/>
            <a:ext cx="2286000" cy="1188720"/>
          </a:xfrm>
          <a:prstGeom prst="rect">
            <a:avLst/>
          </a:prstGeom>
          <a:solidFill>
            <a:srgbClr val="12285C"/>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0" y="1078992"/>
            <a:ext cx="2103120" cy="274320"/>
          </a:xfrm>
          <a:prstGeom prst="rect">
            <a:avLst/>
          </a:prstGeom>
          <a:noFill/>
        </p:spPr>
        <p:txBody>
          <a:bodyPr wrap="square">
            <a:spAutoFit/>
          </a:bodyPr>
          <a:lstStyle/>
          <a:p>
            <a:pPr algn="ctr"/>
            <a:r>
              <a:rPr sz="1000" b="1" i="0">
                <a:solidFill>
                  <a:srgbClr val="FFFFFF"/>
                </a:solidFill>
              </a:rPr>
              <a:t>Activity Service</a:t>
            </a:r>
          </a:p>
        </p:txBody>
      </p:sp>
      <p:sp>
        <p:nvSpPr>
          <p:cNvPr id="21" name="TextBox 20"/>
          <p:cNvSpPr txBox="1"/>
          <p:nvPr/>
        </p:nvSpPr>
        <p:spPr>
          <a:xfrm>
            <a:off x="6766560" y="1344168"/>
            <a:ext cx="2103120" cy="228600"/>
          </a:xfrm>
          <a:prstGeom prst="rect">
            <a:avLst/>
          </a:prstGeom>
          <a:noFill/>
        </p:spPr>
        <p:txBody>
          <a:bodyPr wrap="square">
            <a:spAutoFit/>
          </a:bodyPr>
          <a:lstStyle/>
          <a:p>
            <a:pPr algn="ctr"/>
            <a:r>
              <a:rPr sz="850" b="0" i="0">
                <a:solidFill>
                  <a:srgbClr val="2DC683"/>
                </a:solidFill>
              </a:rPr>
              <a:t>(CONSUMER)</a:t>
            </a:r>
          </a:p>
        </p:txBody>
      </p:sp>
      <p:sp>
        <p:nvSpPr>
          <p:cNvPr id="22" name="TextBox 21"/>
          <p:cNvSpPr txBox="1"/>
          <p:nvPr/>
        </p:nvSpPr>
        <p:spPr>
          <a:xfrm>
            <a:off x="6766560" y="1572768"/>
            <a:ext cx="2103120" cy="502920"/>
          </a:xfrm>
          <a:prstGeom prst="rect">
            <a:avLst/>
          </a:prstGeom>
          <a:noFill/>
        </p:spPr>
        <p:txBody>
          <a:bodyPr wrap="square">
            <a:spAutoFit/>
          </a:bodyPr>
          <a:lstStyle/>
          <a:p>
            <a:pPr algn="ctr"/>
            <a:r>
              <a:rPr sz="850" b="0" i="0">
                <a:solidFill>
                  <a:srgbClr val="D0D8F0"/>
                </a:solidFill>
              </a:rPr>
              <a:t>Background thread
always listening</a:t>
            </a:r>
          </a:p>
        </p:txBody>
      </p:sp>
      <p:cxnSp>
        <p:nvCxnSpPr>
          <p:cNvPr id="23" name="Connector 22"/>
          <p:cNvCxnSpPr/>
          <p:nvPr/>
        </p:nvCxnSpPr>
        <p:spPr>
          <a:xfrm>
            <a:off x="8961120" y="1554480"/>
            <a:ext cx="5486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509760" y="1005840"/>
            <a:ext cx="2377440" cy="1188720"/>
          </a:xfrm>
          <a:prstGeom prst="rect">
            <a:avLst/>
          </a:prstGeom>
          <a:solidFill>
            <a:srgbClr val="1A3A1A"/>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0" y="1078992"/>
            <a:ext cx="2194560" cy="274320"/>
          </a:xfrm>
          <a:prstGeom prst="rect">
            <a:avLst/>
          </a:prstGeom>
          <a:noFill/>
        </p:spPr>
        <p:txBody>
          <a:bodyPr wrap="square">
            <a:spAutoFit/>
          </a:bodyPr>
          <a:lstStyle/>
          <a:p>
            <a:pPr algn="ctr"/>
            <a:r>
              <a:rPr sz="1000" b="1" i="0">
                <a:solidFill>
                  <a:srgbClr val="2DC683"/>
                </a:solidFill>
              </a:rPr>
              <a:t>PostgreSQL</a:t>
            </a:r>
          </a:p>
        </p:txBody>
      </p:sp>
      <p:sp>
        <p:nvSpPr>
          <p:cNvPr id="26" name="TextBox 25"/>
          <p:cNvSpPr txBox="1"/>
          <p:nvPr/>
        </p:nvSpPr>
        <p:spPr>
          <a:xfrm>
            <a:off x="9601200" y="1353312"/>
            <a:ext cx="2194560" cy="228600"/>
          </a:xfrm>
          <a:prstGeom prst="rect">
            <a:avLst/>
          </a:prstGeom>
          <a:noFill/>
        </p:spPr>
        <p:txBody>
          <a:bodyPr wrap="square">
            <a:spAutoFit/>
          </a:bodyPr>
          <a:lstStyle/>
          <a:p>
            <a:pPr algn="ctr"/>
            <a:r>
              <a:rPr sz="850" b="0" i="0">
                <a:solidFill>
                  <a:srgbClr val="D0D8F0"/>
                </a:solidFill>
              </a:rPr>
              <a:t>INSERT into activities</a:t>
            </a:r>
          </a:p>
        </p:txBody>
      </p:sp>
      <p:sp>
        <p:nvSpPr>
          <p:cNvPr id="27" name="TextBox 26"/>
          <p:cNvSpPr txBox="1"/>
          <p:nvPr/>
        </p:nvSpPr>
        <p:spPr>
          <a:xfrm>
            <a:off x="9601200" y="1572768"/>
            <a:ext cx="2194560" cy="228600"/>
          </a:xfrm>
          <a:prstGeom prst="rect">
            <a:avLst/>
          </a:prstGeom>
          <a:noFill/>
        </p:spPr>
        <p:txBody>
          <a:bodyPr wrap="square">
            <a:spAutoFit/>
          </a:bodyPr>
          <a:lstStyle/>
          <a:p>
            <a:pPr algn="ctr"/>
            <a:r>
              <a:rPr sz="850" b="0" i="1">
                <a:solidFill>
                  <a:srgbClr val="D0D8F0"/>
                </a:solidFill>
              </a:rPr>
              <a:t>(activities table)</a:t>
            </a:r>
          </a:p>
        </p:txBody>
      </p:sp>
      <p:sp>
        <p:nvSpPr>
          <p:cNvPr id="28" name="Rectangle 27"/>
          <p:cNvSpPr/>
          <p:nvPr/>
        </p:nvSpPr>
        <p:spPr>
          <a:xfrm>
            <a:off x="274320" y="2514600"/>
            <a:ext cx="5303520" cy="1371600"/>
          </a:xfrm>
          <a:prstGeom prst="rect">
            <a:avLst/>
          </a:prstGeom>
          <a:solidFill>
            <a:srgbClr val="0A142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2578608"/>
            <a:ext cx="3657600" cy="256032"/>
          </a:xfrm>
          <a:prstGeom prst="rect">
            <a:avLst/>
          </a:prstGeom>
          <a:noFill/>
        </p:spPr>
        <p:txBody>
          <a:bodyPr wrap="square">
            <a:spAutoFit/>
          </a:bodyPr>
          <a:lstStyle/>
          <a:p>
            <a:pPr algn="l"/>
            <a:r>
              <a:rPr sz="850" b="1" i="0">
                <a:solidFill>
                  <a:srgbClr val="00B4D8"/>
                </a:solidFill>
              </a:rPr>
              <a:t>KAFKA EVENT PAYLOAD (example)</a:t>
            </a:r>
          </a:p>
        </p:txBody>
      </p:sp>
      <p:sp>
        <p:nvSpPr>
          <p:cNvPr id="30" name="TextBox 29"/>
          <p:cNvSpPr txBox="1"/>
          <p:nvPr/>
        </p:nvSpPr>
        <p:spPr>
          <a:xfrm>
            <a:off x="411480" y="2852928"/>
            <a:ext cx="5029200" cy="1005840"/>
          </a:xfrm>
          <a:prstGeom prst="rect">
            <a:avLst/>
          </a:prstGeom>
          <a:noFill/>
        </p:spPr>
        <p:txBody>
          <a:bodyPr wrap="square">
            <a:spAutoFit/>
          </a:bodyPr>
          <a:lstStyle/>
          <a:p>
            <a:pPr algn="l"/>
            <a:r>
              <a:rPr sz="850" b="0" i="1">
                <a:solidFill>
                  <a:srgbClr val="D0D8F0"/>
                </a:solidFill>
              </a:rPr>
              <a:t>{
  "userId": "u001",
  "type": "DEPOSIT",
  "amount": 500.00,
  "reference": "salary",
  "timestamp": "2025-04-12T09:00:00Z"
}</a:t>
            </a:r>
          </a:p>
        </p:txBody>
      </p:sp>
      <p:sp>
        <p:nvSpPr>
          <p:cNvPr id="31" name="Rectangle 30"/>
          <p:cNvSpPr/>
          <p:nvPr/>
        </p:nvSpPr>
        <p:spPr>
          <a:xfrm>
            <a:off x="5760720" y="2514600"/>
            <a:ext cx="6126480" cy="4160520"/>
          </a:xfrm>
          <a:prstGeom prst="rect">
            <a:avLst/>
          </a:prstGeom>
          <a:solidFill>
            <a:srgbClr val="0A142E"/>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0" y="2578608"/>
            <a:ext cx="5669280" cy="274320"/>
          </a:xfrm>
          <a:prstGeom prst="rect">
            <a:avLst/>
          </a:prstGeom>
          <a:noFill/>
        </p:spPr>
        <p:txBody>
          <a:bodyPr wrap="square">
            <a:spAutoFit/>
          </a:bodyPr>
          <a:lstStyle/>
          <a:p>
            <a:pPr algn="l"/>
            <a:r>
              <a:rPr sz="950" b="1" i="0">
                <a:solidFill>
                  <a:srgbClr val="2DC683"/>
                </a:solidFill>
              </a:rPr>
              <a:t>WHY KAFKA — KEY DESIGN DECISIONS</a:t>
            </a:r>
          </a:p>
        </p:txBody>
      </p:sp>
      <p:sp>
        <p:nvSpPr>
          <p:cNvPr id="33" name="Rectangle 32"/>
          <p:cNvSpPr/>
          <p:nvPr/>
        </p:nvSpPr>
        <p:spPr>
          <a:xfrm>
            <a:off x="5760720" y="2898648"/>
            <a:ext cx="6126480" cy="18288"/>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897880" y="2990088"/>
            <a:ext cx="5760720" cy="475488"/>
          </a:xfrm>
          <a:prstGeom prst="rect">
            <a:avLst/>
          </a:prstGeom>
          <a:noFill/>
        </p:spPr>
        <p:txBody>
          <a:bodyPr wrap="square">
            <a:spAutoFit/>
          </a:bodyPr>
          <a:lstStyle/>
          <a:p>
            <a:r>
              <a:rPr sz="950" b="1">
                <a:solidFill>
                  <a:srgbClr val="FFFFFF"/>
                </a:solidFill>
              </a:rPr>
              <a:t>Decoupling — </a:t>
            </a:r>
            <a:r>
              <a:rPr sz="950">
                <a:solidFill>
                  <a:srgbClr val="D0D8F0"/>
                </a:solidFill>
              </a:rPr>
              <a:t>Transaction Service does not call Activity Service directly. It simply fires an event and moves on. If Activity Service is down, events queue in Kafka.</a:t>
            </a:r>
          </a:p>
        </p:txBody>
      </p:sp>
      <p:sp>
        <p:nvSpPr>
          <p:cNvPr id="35" name="TextBox 34"/>
          <p:cNvSpPr txBox="1"/>
          <p:nvPr/>
        </p:nvSpPr>
        <p:spPr>
          <a:xfrm>
            <a:off x="5897880" y="3520440"/>
            <a:ext cx="5760720" cy="475488"/>
          </a:xfrm>
          <a:prstGeom prst="rect">
            <a:avLst/>
          </a:prstGeom>
          <a:noFill/>
        </p:spPr>
        <p:txBody>
          <a:bodyPr wrap="square">
            <a:spAutoFit/>
          </a:bodyPr>
          <a:lstStyle/>
          <a:p>
            <a:r>
              <a:rPr sz="950" b="1">
                <a:solidFill>
                  <a:srgbClr val="FFFFFF"/>
                </a:solidFill>
              </a:rPr>
              <a:t>Async processing — </a:t>
            </a:r>
            <a:r>
              <a:rPr sz="950">
                <a:solidFill>
                  <a:srgbClr val="D0D8F0"/>
                </a:solidFill>
              </a:rPr>
              <a:t>The customer gets a response the moment the transaction commits to PostgreSQL. Activity logging happens in the background — no added latency.</a:t>
            </a:r>
          </a:p>
        </p:txBody>
      </p:sp>
      <p:sp>
        <p:nvSpPr>
          <p:cNvPr id="36" name="TextBox 35"/>
          <p:cNvSpPr txBox="1"/>
          <p:nvPr/>
        </p:nvSpPr>
        <p:spPr>
          <a:xfrm>
            <a:off x="5897880" y="4050791"/>
            <a:ext cx="5760720" cy="475488"/>
          </a:xfrm>
          <a:prstGeom prst="rect">
            <a:avLst/>
          </a:prstGeom>
          <a:noFill/>
        </p:spPr>
        <p:txBody>
          <a:bodyPr wrap="square">
            <a:spAutoFit/>
          </a:bodyPr>
          <a:lstStyle/>
          <a:p>
            <a:r>
              <a:rPr sz="950" b="1">
                <a:solidFill>
                  <a:srgbClr val="FFFFFF"/>
                </a:solidFill>
              </a:rPr>
              <a:t>Resilience — </a:t>
            </a:r>
            <a:r>
              <a:rPr sz="950">
                <a:solidFill>
                  <a:srgbClr val="D0D8F0"/>
                </a:solidFill>
              </a:rPr>
              <a:t>If Activity Service restarts it picks up from its last committed offset. No activity records are lost, even after a crash.</a:t>
            </a:r>
          </a:p>
        </p:txBody>
      </p:sp>
      <p:sp>
        <p:nvSpPr>
          <p:cNvPr id="37" name="TextBox 36"/>
          <p:cNvSpPr txBox="1"/>
          <p:nvPr/>
        </p:nvSpPr>
        <p:spPr>
          <a:xfrm>
            <a:off x="5897880" y="4581144"/>
            <a:ext cx="5760720" cy="475488"/>
          </a:xfrm>
          <a:prstGeom prst="rect">
            <a:avLst/>
          </a:prstGeom>
          <a:noFill/>
        </p:spPr>
        <p:txBody>
          <a:bodyPr wrap="square">
            <a:spAutoFit/>
          </a:bodyPr>
          <a:lstStyle/>
          <a:p>
            <a:r>
              <a:rPr sz="950" b="1">
                <a:solidFill>
                  <a:srgbClr val="FFFFFF"/>
                </a:solidFill>
              </a:rPr>
              <a:t>Scalability — </a:t>
            </a:r>
            <a:r>
              <a:rPr sz="950">
                <a:solidFill>
                  <a:srgbClr val="D0D8F0"/>
                </a:solidFill>
              </a:rPr>
              <a:t>Multiple Activity Service instances can consume from the same topic in parallel (each assigned different partitions) without duplicate writes.</a:t>
            </a:r>
          </a:p>
        </p:txBody>
      </p:sp>
      <p:sp>
        <p:nvSpPr>
          <p:cNvPr id="38" name="TextBox 37"/>
          <p:cNvSpPr txBox="1"/>
          <p:nvPr/>
        </p:nvSpPr>
        <p:spPr>
          <a:xfrm>
            <a:off x="5897880" y="5111496"/>
            <a:ext cx="5760720" cy="475488"/>
          </a:xfrm>
          <a:prstGeom prst="rect">
            <a:avLst/>
          </a:prstGeom>
          <a:noFill/>
        </p:spPr>
        <p:txBody>
          <a:bodyPr wrap="square">
            <a:spAutoFit/>
          </a:bodyPr>
          <a:lstStyle/>
          <a:p>
            <a:r>
              <a:rPr sz="950" b="1">
                <a:solidFill>
                  <a:srgbClr val="FFFFFF"/>
                </a:solidFill>
              </a:rPr>
              <a:t>Audit trail — </a:t>
            </a:r>
            <a:r>
              <a:rPr sz="950">
                <a:solidFill>
                  <a:srgbClr val="D0D8F0"/>
                </a:solidFill>
              </a:rPr>
              <a:t>Kafka retains events. Even if the activities table were wiped, the raw events could be replayed to rebuild the log.</a:t>
            </a:r>
          </a:p>
        </p:txBody>
      </p:sp>
      <p:sp>
        <p:nvSpPr>
          <p:cNvPr id="39" name="Rectangle 38"/>
          <p:cNvSpPr/>
          <p:nvPr/>
        </p:nvSpPr>
        <p:spPr>
          <a:xfrm>
            <a:off x="274320" y="3931920"/>
            <a:ext cx="5303520" cy="2651760"/>
          </a:xfrm>
          <a:prstGeom prst="rect">
            <a:avLst/>
          </a:prstGeom>
          <a:solidFill>
            <a:srgbClr val="0A142E"/>
          </a:solidFill>
          <a:ln w="1270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4005072"/>
            <a:ext cx="4937760" cy="256032"/>
          </a:xfrm>
          <a:prstGeom prst="rect">
            <a:avLst/>
          </a:prstGeom>
          <a:noFill/>
        </p:spPr>
        <p:txBody>
          <a:bodyPr wrap="square">
            <a:spAutoFit/>
          </a:bodyPr>
          <a:lstStyle/>
          <a:p>
            <a:pPr algn="l"/>
            <a:r>
              <a:rPr sz="850" b="1" i="0">
                <a:solidFill>
                  <a:srgbClr val="2DC683"/>
                </a:solidFill>
              </a:rPr>
              <a:t>ACTIVITIES TABLE — WRITTEN BY CONSUMER</a:t>
            </a:r>
          </a:p>
        </p:txBody>
      </p:sp>
      <p:sp>
        <p:nvSpPr>
          <p:cNvPr id="41" name="Rectangle 40"/>
          <p:cNvSpPr/>
          <p:nvPr/>
        </p:nvSpPr>
        <p:spPr>
          <a:xfrm>
            <a:off x="274320" y="4315968"/>
            <a:ext cx="5303520" cy="18288"/>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6576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02336" y="4370832"/>
            <a:ext cx="923544" cy="256032"/>
          </a:xfrm>
          <a:prstGeom prst="rect">
            <a:avLst/>
          </a:prstGeom>
          <a:noFill/>
        </p:spPr>
        <p:txBody>
          <a:bodyPr wrap="square">
            <a:spAutoFit/>
          </a:bodyPr>
          <a:lstStyle/>
          <a:p>
            <a:pPr algn="l"/>
            <a:r>
              <a:rPr sz="800" b="1" i="0">
                <a:solidFill>
                  <a:srgbClr val="FFFFFF"/>
                </a:solidFill>
              </a:rPr>
              <a:t>id</a:t>
            </a:r>
          </a:p>
        </p:txBody>
      </p:sp>
      <p:sp>
        <p:nvSpPr>
          <p:cNvPr id="44" name="Rectangle 43"/>
          <p:cNvSpPr/>
          <p:nvPr/>
        </p:nvSpPr>
        <p:spPr>
          <a:xfrm>
            <a:off x="137160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408176" y="4370832"/>
            <a:ext cx="923544" cy="256032"/>
          </a:xfrm>
          <a:prstGeom prst="rect">
            <a:avLst/>
          </a:prstGeom>
          <a:noFill/>
        </p:spPr>
        <p:txBody>
          <a:bodyPr wrap="square">
            <a:spAutoFit/>
          </a:bodyPr>
          <a:lstStyle/>
          <a:p>
            <a:pPr algn="l"/>
            <a:r>
              <a:rPr sz="800" b="1" i="0">
                <a:solidFill>
                  <a:srgbClr val="FFFFFF"/>
                </a:solidFill>
              </a:rPr>
              <a:t>user_id</a:t>
            </a:r>
          </a:p>
        </p:txBody>
      </p:sp>
      <p:sp>
        <p:nvSpPr>
          <p:cNvPr id="46" name="Rectangle 45"/>
          <p:cNvSpPr/>
          <p:nvPr/>
        </p:nvSpPr>
        <p:spPr>
          <a:xfrm>
            <a:off x="237744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414016" y="4370832"/>
            <a:ext cx="923544" cy="256032"/>
          </a:xfrm>
          <a:prstGeom prst="rect">
            <a:avLst/>
          </a:prstGeom>
          <a:noFill/>
        </p:spPr>
        <p:txBody>
          <a:bodyPr wrap="square">
            <a:spAutoFit/>
          </a:bodyPr>
          <a:lstStyle/>
          <a:p>
            <a:pPr algn="l"/>
            <a:r>
              <a:rPr sz="800" b="1" i="0">
                <a:solidFill>
                  <a:srgbClr val="FFFFFF"/>
                </a:solidFill>
              </a:rPr>
              <a:t>activity_type</a:t>
            </a:r>
          </a:p>
        </p:txBody>
      </p:sp>
      <p:sp>
        <p:nvSpPr>
          <p:cNvPr id="48" name="Rectangle 47"/>
          <p:cNvSpPr/>
          <p:nvPr/>
        </p:nvSpPr>
        <p:spPr>
          <a:xfrm>
            <a:off x="338328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419856" y="4370832"/>
            <a:ext cx="923544" cy="256032"/>
          </a:xfrm>
          <a:prstGeom prst="rect">
            <a:avLst/>
          </a:prstGeom>
          <a:noFill/>
        </p:spPr>
        <p:txBody>
          <a:bodyPr wrap="square">
            <a:spAutoFit/>
          </a:bodyPr>
          <a:lstStyle/>
          <a:p>
            <a:pPr algn="l"/>
            <a:r>
              <a:rPr sz="800" b="1" i="0">
                <a:solidFill>
                  <a:srgbClr val="FFFFFF"/>
                </a:solidFill>
              </a:rPr>
              <a:t>description</a:t>
            </a:r>
          </a:p>
        </p:txBody>
      </p:sp>
      <p:sp>
        <p:nvSpPr>
          <p:cNvPr id="50" name="Rectangle 49"/>
          <p:cNvSpPr/>
          <p:nvPr/>
        </p:nvSpPr>
        <p:spPr>
          <a:xfrm>
            <a:off x="438912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25696" y="4370832"/>
            <a:ext cx="923544" cy="256032"/>
          </a:xfrm>
          <a:prstGeom prst="rect">
            <a:avLst/>
          </a:prstGeom>
          <a:noFill/>
        </p:spPr>
        <p:txBody>
          <a:bodyPr wrap="square">
            <a:spAutoFit/>
          </a:bodyPr>
          <a:lstStyle/>
          <a:p>
            <a:pPr algn="l"/>
            <a:r>
              <a:rPr sz="800" b="1" i="0">
                <a:solidFill>
                  <a:srgbClr val="FFFFFF"/>
                </a:solidFill>
              </a:rPr>
              <a:t>created_at</a:t>
            </a:r>
          </a:p>
        </p:txBody>
      </p:sp>
      <p:sp>
        <p:nvSpPr>
          <p:cNvPr id="52" name="Rectangle 51"/>
          <p:cNvSpPr/>
          <p:nvPr/>
        </p:nvSpPr>
        <p:spPr>
          <a:xfrm>
            <a:off x="36576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02336" y="4663440"/>
            <a:ext cx="923544" cy="256032"/>
          </a:xfrm>
          <a:prstGeom prst="rect">
            <a:avLst/>
          </a:prstGeom>
          <a:noFill/>
        </p:spPr>
        <p:txBody>
          <a:bodyPr wrap="square">
            <a:spAutoFit/>
          </a:bodyPr>
          <a:lstStyle/>
          <a:p>
            <a:pPr algn="l"/>
            <a:r>
              <a:rPr sz="750" b="0" i="0">
                <a:solidFill>
                  <a:srgbClr val="D0D8F0"/>
                </a:solidFill>
              </a:rPr>
              <a:t>1</a:t>
            </a:r>
          </a:p>
        </p:txBody>
      </p:sp>
      <p:sp>
        <p:nvSpPr>
          <p:cNvPr id="54" name="Rectangle 53"/>
          <p:cNvSpPr/>
          <p:nvPr/>
        </p:nvSpPr>
        <p:spPr>
          <a:xfrm>
            <a:off x="137160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408176" y="4663440"/>
            <a:ext cx="923544" cy="256032"/>
          </a:xfrm>
          <a:prstGeom prst="rect">
            <a:avLst/>
          </a:prstGeom>
          <a:noFill/>
        </p:spPr>
        <p:txBody>
          <a:bodyPr wrap="square">
            <a:spAutoFit/>
          </a:bodyPr>
          <a:lstStyle/>
          <a:p>
            <a:pPr algn="l"/>
            <a:r>
              <a:rPr sz="750" b="0" i="0">
                <a:solidFill>
                  <a:srgbClr val="D0D8F0"/>
                </a:solidFill>
              </a:rPr>
              <a:t>u001</a:t>
            </a:r>
          </a:p>
        </p:txBody>
      </p:sp>
      <p:sp>
        <p:nvSpPr>
          <p:cNvPr id="56" name="Rectangle 55"/>
          <p:cNvSpPr/>
          <p:nvPr/>
        </p:nvSpPr>
        <p:spPr>
          <a:xfrm>
            <a:off x="237744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414016" y="4663440"/>
            <a:ext cx="923544" cy="256032"/>
          </a:xfrm>
          <a:prstGeom prst="rect">
            <a:avLst/>
          </a:prstGeom>
          <a:noFill/>
        </p:spPr>
        <p:txBody>
          <a:bodyPr wrap="square">
            <a:spAutoFit/>
          </a:bodyPr>
          <a:lstStyle/>
          <a:p>
            <a:pPr algn="l"/>
            <a:r>
              <a:rPr sz="750" b="0" i="0">
                <a:solidFill>
                  <a:srgbClr val="D0D8F0"/>
                </a:solidFill>
              </a:rPr>
              <a:t>DEPOSIT</a:t>
            </a:r>
          </a:p>
        </p:txBody>
      </p:sp>
      <p:sp>
        <p:nvSpPr>
          <p:cNvPr id="58" name="Rectangle 57"/>
          <p:cNvSpPr/>
          <p:nvPr/>
        </p:nvSpPr>
        <p:spPr>
          <a:xfrm>
            <a:off x="338328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19856" y="4663440"/>
            <a:ext cx="923544" cy="256032"/>
          </a:xfrm>
          <a:prstGeom prst="rect">
            <a:avLst/>
          </a:prstGeom>
          <a:noFill/>
        </p:spPr>
        <p:txBody>
          <a:bodyPr wrap="square">
            <a:spAutoFit/>
          </a:bodyPr>
          <a:lstStyle/>
          <a:p>
            <a:pPr algn="l"/>
            <a:r>
              <a:rPr sz="750" b="0" i="0">
                <a:solidFill>
                  <a:srgbClr val="D0D8F0"/>
                </a:solidFill>
              </a:rPr>
              <a:t>Deposited £500.00</a:t>
            </a:r>
          </a:p>
        </p:txBody>
      </p:sp>
      <p:sp>
        <p:nvSpPr>
          <p:cNvPr id="60" name="Rectangle 59"/>
          <p:cNvSpPr/>
          <p:nvPr/>
        </p:nvSpPr>
        <p:spPr>
          <a:xfrm>
            <a:off x="438912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425696" y="4663440"/>
            <a:ext cx="923544" cy="256032"/>
          </a:xfrm>
          <a:prstGeom prst="rect">
            <a:avLst/>
          </a:prstGeom>
          <a:noFill/>
        </p:spPr>
        <p:txBody>
          <a:bodyPr wrap="square">
            <a:spAutoFit/>
          </a:bodyPr>
          <a:lstStyle/>
          <a:p>
            <a:pPr algn="l"/>
            <a:r>
              <a:rPr sz="750" b="0" i="0">
                <a:solidFill>
                  <a:srgbClr val="D0D8F0"/>
                </a:solidFill>
              </a:rPr>
              <a:t>2025-04-12</a:t>
            </a:r>
          </a:p>
        </p:txBody>
      </p:sp>
      <p:sp>
        <p:nvSpPr>
          <p:cNvPr id="62" name="Rectangle 61"/>
          <p:cNvSpPr/>
          <p:nvPr/>
        </p:nvSpPr>
        <p:spPr>
          <a:xfrm>
            <a:off x="36576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02336" y="4919472"/>
            <a:ext cx="923544" cy="256032"/>
          </a:xfrm>
          <a:prstGeom prst="rect">
            <a:avLst/>
          </a:prstGeom>
          <a:noFill/>
        </p:spPr>
        <p:txBody>
          <a:bodyPr wrap="square">
            <a:spAutoFit/>
          </a:bodyPr>
          <a:lstStyle/>
          <a:p>
            <a:pPr algn="l"/>
            <a:r>
              <a:rPr sz="750" b="0" i="0">
                <a:solidFill>
                  <a:srgbClr val="D0D8F0"/>
                </a:solidFill>
              </a:rPr>
              <a:t>2</a:t>
            </a:r>
          </a:p>
        </p:txBody>
      </p:sp>
      <p:sp>
        <p:nvSpPr>
          <p:cNvPr id="64" name="Rectangle 63"/>
          <p:cNvSpPr/>
          <p:nvPr/>
        </p:nvSpPr>
        <p:spPr>
          <a:xfrm>
            <a:off x="137160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408176" y="4919472"/>
            <a:ext cx="923544" cy="256032"/>
          </a:xfrm>
          <a:prstGeom prst="rect">
            <a:avLst/>
          </a:prstGeom>
          <a:noFill/>
        </p:spPr>
        <p:txBody>
          <a:bodyPr wrap="square">
            <a:spAutoFit/>
          </a:bodyPr>
          <a:lstStyle/>
          <a:p>
            <a:pPr algn="l"/>
            <a:r>
              <a:rPr sz="750" b="0" i="0">
                <a:solidFill>
                  <a:srgbClr val="D0D8F0"/>
                </a:solidFill>
              </a:rPr>
              <a:t>u001</a:t>
            </a:r>
          </a:p>
        </p:txBody>
      </p:sp>
      <p:sp>
        <p:nvSpPr>
          <p:cNvPr id="66" name="Rectangle 65"/>
          <p:cNvSpPr/>
          <p:nvPr/>
        </p:nvSpPr>
        <p:spPr>
          <a:xfrm>
            <a:off x="237744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414016" y="4919472"/>
            <a:ext cx="923544" cy="256032"/>
          </a:xfrm>
          <a:prstGeom prst="rect">
            <a:avLst/>
          </a:prstGeom>
          <a:noFill/>
        </p:spPr>
        <p:txBody>
          <a:bodyPr wrap="square">
            <a:spAutoFit/>
          </a:bodyPr>
          <a:lstStyle/>
          <a:p>
            <a:pPr algn="l"/>
            <a:r>
              <a:rPr sz="750" b="0" i="0">
                <a:solidFill>
                  <a:srgbClr val="D0D8F0"/>
                </a:solidFill>
              </a:rPr>
              <a:t>TRANSFER_OUT</a:t>
            </a:r>
          </a:p>
        </p:txBody>
      </p:sp>
      <p:sp>
        <p:nvSpPr>
          <p:cNvPr id="68" name="Rectangle 67"/>
          <p:cNvSpPr/>
          <p:nvPr/>
        </p:nvSpPr>
        <p:spPr>
          <a:xfrm>
            <a:off x="338328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419856" y="4919472"/>
            <a:ext cx="923544" cy="256032"/>
          </a:xfrm>
          <a:prstGeom prst="rect">
            <a:avLst/>
          </a:prstGeom>
          <a:noFill/>
        </p:spPr>
        <p:txBody>
          <a:bodyPr wrap="square">
            <a:spAutoFit/>
          </a:bodyPr>
          <a:lstStyle/>
          <a:p>
            <a:pPr algn="l"/>
            <a:r>
              <a:rPr sz="750" b="0" i="0">
                <a:solidFill>
                  <a:srgbClr val="D0D8F0"/>
                </a:solidFill>
              </a:rPr>
              <a:t>Sent £50 to u002</a:t>
            </a:r>
          </a:p>
        </p:txBody>
      </p:sp>
      <p:sp>
        <p:nvSpPr>
          <p:cNvPr id="70" name="Rectangle 69"/>
          <p:cNvSpPr/>
          <p:nvPr/>
        </p:nvSpPr>
        <p:spPr>
          <a:xfrm>
            <a:off x="438912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425696" y="4919472"/>
            <a:ext cx="923544" cy="256032"/>
          </a:xfrm>
          <a:prstGeom prst="rect">
            <a:avLst/>
          </a:prstGeom>
          <a:noFill/>
        </p:spPr>
        <p:txBody>
          <a:bodyPr wrap="square">
            <a:spAutoFit/>
          </a:bodyPr>
          <a:lstStyle/>
          <a:p>
            <a:pPr algn="l"/>
            <a:r>
              <a:rPr sz="750" b="0" i="0">
                <a:solidFill>
                  <a:srgbClr val="D0D8F0"/>
                </a:solidFill>
              </a:rPr>
              <a:t>2025-04-12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5 — Transfer Between Accounts</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The most complex flow — touches all four infrastructure components</a:t>
            </a:r>
          </a:p>
        </p:txBody>
      </p:sp>
      <p:sp>
        <p:nvSpPr>
          <p:cNvPr id="5" name="Rectangle 4"/>
          <p:cNvSpPr/>
          <p:nvPr/>
        </p:nvSpPr>
        <p:spPr>
          <a:xfrm>
            <a:off x="228600" y="1234440"/>
            <a:ext cx="201168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78407"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1</a:t>
            </a:r>
          </a:p>
        </p:txBody>
      </p:sp>
      <p:sp>
        <p:nvSpPr>
          <p:cNvPr id="7" name="TextBox 6"/>
          <p:cNvSpPr txBox="1"/>
          <p:nvPr/>
        </p:nvSpPr>
        <p:spPr>
          <a:xfrm>
            <a:off x="301752" y="1581912"/>
            <a:ext cx="1865376" cy="347472"/>
          </a:xfrm>
          <a:prstGeom prst="rect">
            <a:avLst/>
          </a:prstGeom>
          <a:noFill/>
        </p:spPr>
        <p:txBody>
          <a:bodyPr wrap="square">
            <a:spAutoFit/>
          </a:bodyPr>
          <a:lstStyle/>
          <a:p>
            <a:pPr algn="ctr"/>
            <a:r>
              <a:rPr sz="1000" b="1" i="0">
                <a:solidFill>
                  <a:srgbClr val="FFFFFF"/>
                </a:solidFill>
              </a:rPr>
              <a:t>Browser</a:t>
            </a:r>
          </a:p>
        </p:txBody>
      </p:sp>
      <p:sp>
        <p:nvSpPr>
          <p:cNvPr id="8" name="TextBox 7"/>
          <p:cNvSpPr txBox="1"/>
          <p:nvPr/>
        </p:nvSpPr>
        <p:spPr>
          <a:xfrm>
            <a:off x="301752" y="1975104"/>
            <a:ext cx="1865376" cy="1188720"/>
          </a:xfrm>
          <a:prstGeom prst="rect">
            <a:avLst/>
          </a:prstGeom>
          <a:noFill/>
        </p:spPr>
        <p:txBody>
          <a:bodyPr wrap="square">
            <a:spAutoFit/>
          </a:bodyPr>
          <a:lstStyle/>
          <a:p>
            <a:pPr algn="ctr"/>
            <a:r>
              <a:rPr sz="900" b="0" i="0">
                <a:solidFill>
                  <a:srgbClr val="D0D8F0"/>
                </a:solidFill>
              </a:rPr>
              <a:t>POST /transactions/transfer
X-User-Id: u001
{toUserId: u002, amount: 50}</a:t>
            </a:r>
          </a:p>
        </p:txBody>
      </p:sp>
      <p:cxnSp>
        <p:nvCxnSpPr>
          <p:cNvPr id="9" name="Connector 8"/>
          <p:cNvCxnSpPr/>
          <p:nvPr/>
        </p:nvCxnSpPr>
        <p:spPr>
          <a:xfrm>
            <a:off x="2240280" y="223113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423160" y="1234440"/>
            <a:ext cx="201168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17296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2</a:t>
            </a:r>
          </a:p>
        </p:txBody>
      </p:sp>
      <p:sp>
        <p:nvSpPr>
          <p:cNvPr id="12" name="TextBox 11"/>
          <p:cNvSpPr txBox="1"/>
          <p:nvPr/>
        </p:nvSpPr>
        <p:spPr>
          <a:xfrm>
            <a:off x="2496312" y="1581912"/>
            <a:ext cx="1865376" cy="347472"/>
          </a:xfrm>
          <a:prstGeom prst="rect">
            <a:avLst/>
          </a:prstGeom>
          <a:noFill/>
        </p:spPr>
        <p:txBody>
          <a:bodyPr wrap="square">
            <a:spAutoFit/>
          </a:bodyPr>
          <a:lstStyle/>
          <a:p>
            <a:pPr algn="ctr"/>
            <a:r>
              <a:rPr sz="1000" b="1" i="0">
                <a:solidFill>
                  <a:srgbClr val="FFFFFF"/>
                </a:solidFill>
              </a:rPr>
              <a:t>Transaction
Service</a:t>
            </a:r>
          </a:p>
        </p:txBody>
      </p:sp>
      <p:sp>
        <p:nvSpPr>
          <p:cNvPr id="13" name="TextBox 12"/>
          <p:cNvSpPr txBox="1"/>
          <p:nvPr/>
        </p:nvSpPr>
        <p:spPr>
          <a:xfrm>
            <a:off x="2496312" y="1975104"/>
            <a:ext cx="1865376" cy="1188720"/>
          </a:xfrm>
          <a:prstGeom prst="rect">
            <a:avLst/>
          </a:prstGeom>
          <a:noFill/>
        </p:spPr>
        <p:txBody>
          <a:bodyPr wrap="square">
            <a:spAutoFit/>
          </a:bodyPr>
          <a:lstStyle/>
          <a:p>
            <a:pPr algn="ctr"/>
            <a:r>
              <a:rPr sz="900" b="0" i="0">
                <a:solidFill>
                  <a:srgbClr val="D0D8F0"/>
                </a:solidFill>
              </a:rPr>
              <a:t>Verify sender exists
Verify receiver exists
Check sender has funds</a:t>
            </a:r>
          </a:p>
        </p:txBody>
      </p:sp>
      <p:cxnSp>
        <p:nvCxnSpPr>
          <p:cNvPr id="14" name="Connector 13"/>
          <p:cNvCxnSpPr/>
          <p:nvPr/>
        </p:nvCxnSpPr>
        <p:spPr>
          <a:xfrm>
            <a:off x="4434840" y="223113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17720" y="1234440"/>
            <a:ext cx="2011680" cy="2011680"/>
          </a:xfrm>
          <a:prstGeom prst="rect">
            <a:avLst/>
          </a:prstGeom>
          <a:solidFill>
            <a:srgbClr val="1A3A1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36752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3</a:t>
            </a:r>
          </a:p>
        </p:txBody>
      </p:sp>
      <p:sp>
        <p:nvSpPr>
          <p:cNvPr id="17" name="TextBox 16"/>
          <p:cNvSpPr txBox="1"/>
          <p:nvPr/>
        </p:nvSpPr>
        <p:spPr>
          <a:xfrm>
            <a:off x="4690872" y="1581912"/>
            <a:ext cx="1865376" cy="347472"/>
          </a:xfrm>
          <a:prstGeom prst="rect">
            <a:avLst/>
          </a:prstGeom>
          <a:noFill/>
        </p:spPr>
        <p:txBody>
          <a:bodyPr wrap="square">
            <a:spAutoFit/>
          </a:bodyPr>
          <a:lstStyle/>
          <a:p>
            <a:pPr algn="ctr"/>
            <a:r>
              <a:rPr sz="1000" b="1" i="0">
                <a:solidFill>
                  <a:srgbClr val="FFFFFF"/>
                </a:solidFill>
              </a:rPr>
              <a:t>PostgreSQL</a:t>
            </a:r>
          </a:p>
        </p:txBody>
      </p:sp>
      <p:sp>
        <p:nvSpPr>
          <p:cNvPr id="18" name="TextBox 17"/>
          <p:cNvSpPr txBox="1"/>
          <p:nvPr/>
        </p:nvSpPr>
        <p:spPr>
          <a:xfrm>
            <a:off x="4690872" y="1975104"/>
            <a:ext cx="1865376" cy="1188720"/>
          </a:xfrm>
          <a:prstGeom prst="rect">
            <a:avLst/>
          </a:prstGeom>
          <a:noFill/>
        </p:spPr>
        <p:txBody>
          <a:bodyPr wrap="square">
            <a:spAutoFit/>
          </a:bodyPr>
          <a:lstStyle/>
          <a:p>
            <a:pPr algn="ctr"/>
            <a:r>
              <a:rPr sz="900" b="0" i="0">
                <a:solidFill>
                  <a:srgbClr val="D0D8F0"/>
                </a:solidFill>
              </a:rPr>
              <a:t>DEDUCT from u001 account
CREDIT to u002 account
INSERT transaction row</a:t>
            </a:r>
          </a:p>
        </p:txBody>
      </p:sp>
      <p:cxnSp>
        <p:nvCxnSpPr>
          <p:cNvPr id="19" name="Connector 18"/>
          <p:cNvCxnSpPr/>
          <p:nvPr/>
        </p:nvCxnSpPr>
        <p:spPr>
          <a:xfrm>
            <a:off x="6629400" y="223113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812280" y="1234440"/>
            <a:ext cx="2011680" cy="2011680"/>
          </a:xfrm>
          <a:prstGeom prst="rect">
            <a:avLst/>
          </a:prstGeom>
          <a:solidFill>
            <a:srgbClr val="3A181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56208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4</a:t>
            </a:r>
          </a:p>
        </p:txBody>
      </p:sp>
      <p:sp>
        <p:nvSpPr>
          <p:cNvPr id="22" name="TextBox 21"/>
          <p:cNvSpPr txBox="1"/>
          <p:nvPr/>
        </p:nvSpPr>
        <p:spPr>
          <a:xfrm>
            <a:off x="6885432" y="1581912"/>
            <a:ext cx="1865376" cy="347472"/>
          </a:xfrm>
          <a:prstGeom prst="rect">
            <a:avLst/>
          </a:prstGeom>
          <a:noFill/>
        </p:spPr>
        <p:txBody>
          <a:bodyPr wrap="square">
            <a:spAutoFit/>
          </a:bodyPr>
          <a:lstStyle/>
          <a:p>
            <a:pPr algn="ctr"/>
            <a:r>
              <a:rPr sz="1000" b="1" i="0">
                <a:solidFill>
                  <a:srgbClr val="FFFFFF"/>
                </a:solidFill>
              </a:rPr>
              <a:t>Redis</a:t>
            </a:r>
          </a:p>
        </p:txBody>
      </p:sp>
      <p:sp>
        <p:nvSpPr>
          <p:cNvPr id="23" name="TextBox 22"/>
          <p:cNvSpPr txBox="1"/>
          <p:nvPr/>
        </p:nvSpPr>
        <p:spPr>
          <a:xfrm>
            <a:off x="6885432" y="1975104"/>
            <a:ext cx="1865376" cy="1188720"/>
          </a:xfrm>
          <a:prstGeom prst="rect">
            <a:avLst/>
          </a:prstGeom>
          <a:noFill/>
        </p:spPr>
        <p:txBody>
          <a:bodyPr wrap="square">
            <a:spAutoFit/>
          </a:bodyPr>
          <a:lstStyle/>
          <a:p>
            <a:pPr algn="ctr"/>
            <a:r>
              <a:rPr sz="900" b="0" i="0">
                <a:solidFill>
                  <a:srgbClr val="D0D8F0"/>
                </a:solidFill>
              </a:rPr>
              <a:t>Update balance:u001
Update balance:u002
(both caches refreshed)</a:t>
            </a:r>
          </a:p>
        </p:txBody>
      </p:sp>
      <p:cxnSp>
        <p:nvCxnSpPr>
          <p:cNvPr id="24" name="Connector 23"/>
          <p:cNvCxnSpPr/>
          <p:nvPr/>
        </p:nvCxnSpPr>
        <p:spPr>
          <a:xfrm>
            <a:off x="8823960" y="223113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006840" y="1234440"/>
            <a:ext cx="2011680" cy="2011680"/>
          </a:xfrm>
          <a:prstGeom prst="rect">
            <a:avLst/>
          </a:prstGeom>
          <a:solidFill>
            <a:srgbClr val="1E223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75664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0D1B3E"/>
                </a:solidFill>
              </a:rPr>
              <a:t>5</a:t>
            </a:r>
          </a:p>
        </p:txBody>
      </p:sp>
      <p:sp>
        <p:nvSpPr>
          <p:cNvPr id="27" name="TextBox 26"/>
          <p:cNvSpPr txBox="1"/>
          <p:nvPr/>
        </p:nvSpPr>
        <p:spPr>
          <a:xfrm>
            <a:off x="9079992" y="1581912"/>
            <a:ext cx="1865376" cy="347472"/>
          </a:xfrm>
          <a:prstGeom prst="rect">
            <a:avLst/>
          </a:prstGeom>
          <a:noFill/>
        </p:spPr>
        <p:txBody>
          <a:bodyPr wrap="square">
            <a:spAutoFit/>
          </a:bodyPr>
          <a:lstStyle/>
          <a:p>
            <a:pPr algn="ctr"/>
            <a:r>
              <a:rPr sz="1000" b="1" i="0">
                <a:solidFill>
                  <a:srgbClr val="FFFFFF"/>
                </a:solidFill>
              </a:rPr>
              <a:t>Kafka</a:t>
            </a:r>
          </a:p>
        </p:txBody>
      </p:sp>
      <p:sp>
        <p:nvSpPr>
          <p:cNvPr id="28" name="TextBox 27"/>
          <p:cNvSpPr txBox="1"/>
          <p:nvPr/>
        </p:nvSpPr>
        <p:spPr>
          <a:xfrm>
            <a:off x="9079992" y="1975104"/>
            <a:ext cx="1865376" cy="1188720"/>
          </a:xfrm>
          <a:prstGeom prst="rect">
            <a:avLst/>
          </a:prstGeom>
          <a:noFill/>
        </p:spPr>
        <p:txBody>
          <a:bodyPr wrap="square">
            <a:spAutoFit/>
          </a:bodyPr>
          <a:lstStyle/>
          <a:p>
            <a:pPr algn="ctr"/>
            <a:r>
              <a:rPr sz="900" b="0" i="0">
                <a:solidFill>
                  <a:srgbClr val="D0D8F0"/>
                </a:solidFill>
              </a:rPr>
              <a:t>PRODUCE single event
→ banking-transactions
(Activity logs the event)</a:t>
            </a:r>
          </a:p>
        </p:txBody>
      </p:sp>
      <p:sp>
        <p:nvSpPr>
          <p:cNvPr id="29" name="Rectangle 28"/>
          <p:cNvSpPr/>
          <p:nvPr/>
        </p:nvSpPr>
        <p:spPr>
          <a:xfrm>
            <a:off x="274320" y="3520440"/>
            <a:ext cx="3749039" cy="3154680"/>
          </a:xfrm>
          <a:prstGeom prst="rect">
            <a:avLst/>
          </a:prstGeom>
          <a:solidFill>
            <a:srgbClr val="0A142E"/>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79" y="3611880"/>
            <a:ext cx="3474720" cy="256032"/>
          </a:xfrm>
          <a:prstGeom prst="rect">
            <a:avLst/>
          </a:prstGeom>
          <a:noFill/>
        </p:spPr>
        <p:txBody>
          <a:bodyPr wrap="square">
            <a:spAutoFit/>
          </a:bodyPr>
          <a:lstStyle/>
          <a:p>
            <a:pPr algn="l"/>
            <a:r>
              <a:rPr sz="900" b="1" i="0">
                <a:solidFill>
                  <a:srgbClr val="FFB700"/>
                </a:solidFill>
              </a:rPr>
              <a:t>ATOMICITY RISK</a:t>
            </a:r>
          </a:p>
        </p:txBody>
      </p:sp>
      <p:sp>
        <p:nvSpPr>
          <p:cNvPr id="31" name="TextBox 30"/>
          <p:cNvSpPr txBox="1"/>
          <p:nvPr/>
        </p:nvSpPr>
        <p:spPr>
          <a:xfrm>
            <a:off x="411479" y="3931920"/>
            <a:ext cx="3474720" cy="2560320"/>
          </a:xfrm>
          <a:prstGeom prst="rect">
            <a:avLst/>
          </a:prstGeom>
          <a:noFill/>
        </p:spPr>
        <p:txBody>
          <a:bodyPr wrap="square">
            <a:spAutoFit/>
          </a:bodyPr>
          <a:lstStyle/>
          <a:p>
            <a:pPr algn="l"/>
            <a:r>
              <a:rPr sz="950" b="0" i="0">
                <a:solidFill>
                  <a:srgbClr val="D0D8F0"/>
                </a:solidFill>
              </a:rPr>
              <a:t>There is no distributed transaction spanning the two account updates AND the Kafka publish. If the service crashes between the DB write and the Kafka publish, the balance is correct but the activity log will be missing that event. This is an accepted trade-off in this proof-of-concept.</a:t>
            </a:r>
          </a:p>
        </p:txBody>
      </p:sp>
      <p:sp>
        <p:nvSpPr>
          <p:cNvPr id="32" name="Rectangle 31"/>
          <p:cNvSpPr/>
          <p:nvPr/>
        </p:nvSpPr>
        <p:spPr>
          <a:xfrm>
            <a:off x="4251959" y="3520440"/>
            <a:ext cx="3749039" cy="3154680"/>
          </a:xfrm>
          <a:prstGeom prst="rect">
            <a:avLst/>
          </a:prstGeom>
          <a:solidFill>
            <a:srgbClr val="0A142E"/>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89120" y="3611880"/>
            <a:ext cx="3474720" cy="256032"/>
          </a:xfrm>
          <a:prstGeom prst="rect">
            <a:avLst/>
          </a:prstGeom>
          <a:noFill/>
        </p:spPr>
        <p:txBody>
          <a:bodyPr wrap="square">
            <a:spAutoFit/>
          </a:bodyPr>
          <a:lstStyle/>
          <a:p>
            <a:pPr algn="l"/>
            <a:r>
              <a:rPr sz="900" b="1" i="0">
                <a:solidFill>
                  <a:srgbClr val="2DC683"/>
                </a:solidFill>
              </a:rPr>
              <a:t>BOTH REDIS KEYS UPDATED</a:t>
            </a:r>
          </a:p>
        </p:txBody>
      </p:sp>
      <p:sp>
        <p:nvSpPr>
          <p:cNvPr id="34" name="TextBox 33"/>
          <p:cNvSpPr txBox="1"/>
          <p:nvPr/>
        </p:nvSpPr>
        <p:spPr>
          <a:xfrm>
            <a:off x="4389120" y="3931920"/>
            <a:ext cx="3474720" cy="2560320"/>
          </a:xfrm>
          <a:prstGeom prst="rect">
            <a:avLst/>
          </a:prstGeom>
          <a:noFill/>
        </p:spPr>
        <p:txBody>
          <a:bodyPr wrap="square">
            <a:spAutoFit/>
          </a:bodyPr>
          <a:lstStyle/>
          <a:p>
            <a:pPr algn="l"/>
            <a:r>
              <a:rPr sz="950" b="0" i="0">
                <a:solidFill>
                  <a:srgbClr val="D0D8F0"/>
                </a:solidFill>
              </a:rPr>
              <a:t>After a transfer both balance:u001 and balance:u002 are updated in Redis. This means either user can immediately read their correct post-transfer balance from cache without hitting PostgreSQL.</a:t>
            </a:r>
          </a:p>
        </p:txBody>
      </p:sp>
      <p:sp>
        <p:nvSpPr>
          <p:cNvPr id="35" name="Rectangle 34"/>
          <p:cNvSpPr/>
          <p:nvPr/>
        </p:nvSpPr>
        <p:spPr>
          <a:xfrm>
            <a:off x="8229600" y="3520440"/>
            <a:ext cx="3749039" cy="3154680"/>
          </a:xfrm>
          <a:prstGeom prst="rect">
            <a:avLst/>
          </a:prstGeom>
          <a:solidFill>
            <a:srgbClr val="0A142E"/>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66760" y="3611880"/>
            <a:ext cx="3474720" cy="256032"/>
          </a:xfrm>
          <a:prstGeom prst="rect">
            <a:avLst/>
          </a:prstGeom>
          <a:noFill/>
        </p:spPr>
        <p:txBody>
          <a:bodyPr wrap="square">
            <a:spAutoFit/>
          </a:bodyPr>
          <a:lstStyle/>
          <a:p>
            <a:pPr algn="l"/>
            <a:r>
              <a:rPr sz="900" b="1" i="0">
                <a:solidFill>
                  <a:srgbClr val="00B4D8"/>
                </a:solidFill>
              </a:rPr>
              <a:t>NO DIRECT SERVICE-TO-SERVICE CALL</a:t>
            </a:r>
          </a:p>
        </p:txBody>
      </p:sp>
      <p:sp>
        <p:nvSpPr>
          <p:cNvPr id="37" name="TextBox 36"/>
          <p:cNvSpPr txBox="1"/>
          <p:nvPr/>
        </p:nvSpPr>
        <p:spPr>
          <a:xfrm>
            <a:off x="8366760" y="3931920"/>
            <a:ext cx="3474720" cy="2560320"/>
          </a:xfrm>
          <a:prstGeom prst="rect">
            <a:avLst/>
          </a:prstGeom>
          <a:noFill/>
        </p:spPr>
        <p:txBody>
          <a:bodyPr wrap="square">
            <a:spAutoFit/>
          </a:bodyPr>
          <a:lstStyle/>
          <a:p>
            <a:pPr algn="l"/>
            <a:r>
              <a:rPr sz="950" b="0" i="0">
                <a:solidFill>
                  <a:srgbClr val="D0D8F0"/>
                </a:solidFill>
              </a:rPr>
              <a:t>The Transaction Service does not call the Activity Service or the User Service to notify them. Kafka is the only integration point between transaction processing and activity logging.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Infrastructure Role Summary</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What each component does, when it is used, and what happens if it goes down</a:t>
            </a:r>
          </a:p>
        </p:txBody>
      </p:sp>
      <p:sp>
        <p:nvSpPr>
          <p:cNvPr id="5" name="Rectangle 4"/>
          <p:cNvSpPr/>
          <p:nvPr/>
        </p:nvSpPr>
        <p:spPr>
          <a:xfrm>
            <a:off x="320040" y="1188720"/>
            <a:ext cx="3749039" cy="5394960"/>
          </a:xfrm>
          <a:prstGeom prst="rect">
            <a:avLst/>
          </a:prstGeom>
          <a:solidFill>
            <a:srgbClr val="1A3A1A"/>
          </a:solidFill>
          <a:ln w="2540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261872"/>
            <a:ext cx="3474720" cy="347472"/>
          </a:xfrm>
          <a:prstGeom prst="rect">
            <a:avLst/>
          </a:prstGeom>
          <a:noFill/>
        </p:spPr>
        <p:txBody>
          <a:bodyPr wrap="square">
            <a:spAutoFit/>
          </a:bodyPr>
          <a:lstStyle/>
          <a:p>
            <a:pPr algn="ctr"/>
            <a:r>
              <a:rPr sz="1600" b="1" i="0">
                <a:solidFill>
                  <a:srgbClr val="2DC683"/>
                </a:solidFill>
              </a:rPr>
              <a:t>PostgreSQL</a:t>
            </a:r>
          </a:p>
        </p:txBody>
      </p:sp>
      <p:sp>
        <p:nvSpPr>
          <p:cNvPr id="7" name="Rectangle 6"/>
          <p:cNvSpPr/>
          <p:nvPr/>
        </p:nvSpPr>
        <p:spPr>
          <a:xfrm>
            <a:off x="1737360" y="1645920"/>
            <a:ext cx="914400" cy="228600"/>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D1B3E"/>
                </a:solidFill>
              </a:rPr>
              <a:t>:5432</a:t>
            </a:r>
          </a:p>
        </p:txBody>
      </p:sp>
      <p:sp>
        <p:nvSpPr>
          <p:cNvPr id="8" name="TextBox 7"/>
          <p:cNvSpPr txBox="1"/>
          <p:nvPr/>
        </p:nvSpPr>
        <p:spPr>
          <a:xfrm>
            <a:off x="457200" y="1938528"/>
            <a:ext cx="3474720" cy="274320"/>
          </a:xfrm>
          <a:prstGeom prst="rect">
            <a:avLst/>
          </a:prstGeom>
          <a:noFill/>
        </p:spPr>
        <p:txBody>
          <a:bodyPr wrap="square">
            <a:spAutoFit/>
          </a:bodyPr>
          <a:lstStyle/>
          <a:p>
            <a:pPr algn="ctr"/>
            <a:r>
              <a:rPr sz="950" b="0" i="1">
                <a:solidFill>
                  <a:srgbClr val="FFFFFF"/>
                </a:solidFill>
              </a:rPr>
              <a:t>Source of truth for all data</a:t>
            </a:r>
          </a:p>
        </p:txBody>
      </p:sp>
      <p:sp>
        <p:nvSpPr>
          <p:cNvPr id="9" name="Rectangle 8"/>
          <p:cNvSpPr/>
          <p:nvPr/>
        </p:nvSpPr>
        <p:spPr>
          <a:xfrm>
            <a:off x="320040" y="2267712"/>
            <a:ext cx="3749039" cy="18288"/>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359152"/>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404872"/>
            <a:ext cx="3291840" cy="384048"/>
          </a:xfrm>
          <a:prstGeom prst="rect">
            <a:avLst/>
          </a:prstGeom>
          <a:noFill/>
        </p:spPr>
        <p:txBody>
          <a:bodyPr wrap="square">
            <a:spAutoFit/>
          </a:bodyPr>
          <a:lstStyle/>
          <a:p>
            <a:pPr algn="l"/>
            <a:r>
              <a:rPr sz="900" b="0" i="0">
                <a:solidFill>
                  <a:srgbClr val="D0D8F0"/>
                </a:solidFill>
              </a:rPr>
              <a:t>Stores: users, accounts, transactions, activities</a:t>
            </a:r>
          </a:p>
        </p:txBody>
      </p:sp>
      <p:sp>
        <p:nvSpPr>
          <p:cNvPr id="12" name="Rectangle 11"/>
          <p:cNvSpPr/>
          <p:nvPr/>
        </p:nvSpPr>
        <p:spPr>
          <a:xfrm>
            <a:off x="457200" y="2926080"/>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971800"/>
            <a:ext cx="3291840" cy="384048"/>
          </a:xfrm>
          <a:prstGeom prst="rect">
            <a:avLst/>
          </a:prstGeom>
          <a:noFill/>
        </p:spPr>
        <p:txBody>
          <a:bodyPr wrap="square">
            <a:spAutoFit/>
          </a:bodyPr>
          <a:lstStyle/>
          <a:p>
            <a:pPr algn="l"/>
            <a:r>
              <a:rPr sz="900" b="0" i="0">
                <a:solidFill>
                  <a:srgbClr val="D0D8F0"/>
                </a:solidFill>
              </a:rPr>
              <a:t>Written on: every registration and transaction</a:t>
            </a:r>
          </a:p>
        </p:txBody>
      </p:sp>
      <p:sp>
        <p:nvSpPr>
          <p:cNvPr id="14" name="Rectangle 13"/>
          <p:cNvSpPr/>
          <p:nvPr/>
        </p:nvSpPr>
        <p:spPr>
          <a:xfrm>
            <a:off x="457200" y="3493008"/>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3538728"/>
            <a:ext cx="3291840" cy="384048"/>
          </a:xfrm>
          <a:prstGeom prst="rect">
            <a:avLst/>
          </a:prstGeom>
          <a:noFill/>
        </p:spPr>
        <p:txBody>
          <a:bodyPr wrap="square">
            <a:spAutoFit/>
          </a:bodyPr>
          <a:lstStyle/>
          <a:p>
            <a:pPr algn="l"/>
            <a:r>
              <a:rPr sz="900" b="0" i="0">
                <a:solidFill>
                  <a:srgbClr val="D0D8F0"/>
                </a:solidFill>
              </a:rPr>
              <a:t>Read on: balance miss, transaction history, activity log</a:t>
            </a:r>
          </a:p>
        </p:txBody>
      </p:sp>
      <p:sp>
        <p:nvSpPr>
          <p:cNvPr id="16" name="Rectangle 15"/>
          <p:cNvSpPr/>
          <p:nvPr/>
        </p:nvSpPr>
        <p:spPr>
          <a:xfrm>
            <a:off x="457200" y="4059935"/>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105655"/>
            <a:ext cx="3291840" cy="384048"/>
          </a:xfrm>
          <a:prstGeom prst="rect">
            <a:avLst/>
          </a:prstGeom>
          <a:noFill/>
        </p:spPr>
        <p:txBody>
          <a:bodyPr wrap="square">
            <a:spAutoFit/>
          </a:bodyPr>
          <a:lstStyle/>
          <a:p>
            <a:pPr algn="l"/>
            <a:r>
              <a:rPr sz="900" b="0" i="0">
                <a:solidFill>
                  <a:srgbClr val="D0D8F0"/>
                </a:solidFill>
              </a:rPr>
              <a:t>If down: all services fail — no fallback</a:t>
            </a:r>
          </a:p>
        </p:txBody>
      </p:sp>
      <p:sp>
        <p:nvSpPr>
          <p:cNvPr id="18" name="Rectangle 17"/>
          <p:cNvSpPr/>
          <p:nvPr/>
        </p:nvSpPr>
        <p:spPr>
          <a:xfrm>
            <a:off x="4270248" y="1188720"/>
            <a:ext cx="3749039" cy="5394960"/>
          </a:xfrm>
          <a:prstGeom prst="rect">
            <a:avLst/>
          </a:prstGeom>
          <a:solidFill>
            <a:srgbClr val="3A1810"/>
          </a:solidFill>
          <a:ln w="2540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07408" y="1261872"/>
            <a:ext cx="3474720" cy="347472"/>
          </a:xfrm>
          <a:prstGeom prst="rect">
            <a:avLst/>
          </a:prstGeom>
          <a:noFill/>
        </p:spPr>
        <p:txBody>
          <a:bodyPr wrap="square">
            <a:spAutoFit/>
          </a:bodyPr>
          <a:lstStyle/>
          <a:p>
            <a:pPr algn="ctr"/>
            <a:r>
              <a:rPr sz="1600" b="1" i="0">
                <a:solidFill>
                  <a:srgbClr val="FFB700"/>
                </a:solidFill>
              </a:rPr>
              <a:t>Redis</a:t>
            </a:r>
          </a:p>
        </p:txBody>
      </p:sp>
      <p:sp>
        <p:nvSpPr>
          <p:cNvPr id="20" name="Rectangle 19"/>
          <p:cNvSpPr/>
          <p:nvPr/>
        </p:nvSpPr>
        <p:spPr>
          <a:xfrm>
            <a:off x="5687568" y="1645920"/>
            <a:ext cx="914400" cy="2286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D1B3E"/>
                </a:solidFill>
              </a:rPr>
              <a:t>:6379</a:t>
            </a:r>
          </a:p>
        </p:txBody>
      </p:sp>
      <p:sp>
        <p:nvSpPr>
          <p:cNvPr id="21" name="TextBox 20"/>
          <p:cNvSpPr txBox="1"/>
          <p:nvPr/>
        </p:nvSpPr>
        <p:spPr>
          <a:xfrm>
            <a:off x="4407408" y="1938528"/>
            <a:ext cx="3474720" cy="274320"/>
          </a:xfrm>
          <a:prstGeom prst="rect">
            <a:avLst/>
          </a:prstGeom>
          <a:noFill/>
        </p:spPr>
        <p:txBody>
          <a:bodyPr wrap="square">
            <a:spAutoFit/>
          </a:bodyPr>
          <a:lstStyle/>
          <a:p>
            <a:pPr algn="ctr"/>
            <a:r>
              <a:rPr sz="950" b="0" i="1">
                <a:solidFill>
                  <a:srgbClr val="FFFFFF"/>
                </a:solidFill>
              </a:rPr>
              <a:t>Balance read cache (optimisation only)</a:t>
            </a:r>
          </a:p>
        </p:txBody>
      </p:sp>
      <p:sp>
        <p:nvSpPr>
          <p:cNvPr id="22" name="Rectangle 21"/>
          <p:cNvSpPr/>
          <p:nvPr/>
        </p:nvSpPr>
        <p:spPr>
          <a:xfrm>
            <a:off x="4270248" y="2267712"/>
            <a:ext cx="3749039" cy="1828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07408" y="2359152"/>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404872"/>
            <a:ext cx="3291840" cy="384048"/>
          </a:xfrm>
          <a:prstGeom prst="rect">
            <a:avLst/>
          </a:prstGeom>
          <a:noFill/>
        </p:spPr>
        <p:txBody>
          <a:bodyPr wrap="square">
            <a:spAutoFit/>
          </a:bodyPr>
          <a:lstStyle/>
          <a:p>
            <a:pPr algn="l"/>
            <a:r>
              <a:rPr sz="900" b="0" i="0">
                <a:solidFill>
                  <a:srgbClr val="D0D8F0"/>
                </a:solidFill>
              </a:rPr>
              <a:t>Stores: balance:&lt;userId&gt; key-value pairs</a:t>
            </a:r>
          </a:p>
        </p:txBody>
      </p:sp>
      <p:sp>
        <p:nvSpPr>
          <p:cNvPr id="25" name="Rectangle 24"/>
          <p:cNvSpPr/>
          <p:nvPr/>
        </p:nvSpPr>
        <p:spPr>
          <a:xfrm>
            <a:off x="4407408" y="2926080"/>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98848" y="2971800"/>
            <a:ext cx="3291840" cy="384048"/>
          </a:xfrm>
          <a:prstGeom prst="rect">
            <a:avLst/>
          </a:prstGeom>
          <a:noFill/>
        </p:spPr>
        <p:txBody>
          <a:bodyPr wrap="square">
            <a:spAutoFit/>
          </a:bodyPr>
          <a:lstStyle/>
          <a:p>
            <a:pPr algn="l"/>
            <a:r>
              <a:rPr sz="900" b="0" i="0">
                <a:solidFill>
                  <a:srgbClr val="D0D8F0"/>
                </a:solidFill>
              </a:rPr>
              <a:t>Written on: every deposit / withdraw / transfer</a:t>
            </a:r>
          </a:p>
        </p:txBody>
      </p:sp>
      <p:sp>
        <p:nvSpPr>
          <p:cNvPr id="27" name="Rectangle 26"/>
          <p:cNvSpPr/>
          <p:nvPr/>
        </p:nvSpPr>
        <p:spPr>
          <a:xfrm>
            <a:off x="4407408" y="3493008"/>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98848" y="3538728"/>
            <a:ext cx="3291840" cy="384048"/>
          </a:xfrm>
          <a:prstGeom prst="rect">
            <a:avLst/>
          </a:prstGeom>
          <a:noFill/>
        </p:spPr>
        <p:txBody>
          <a:bodyPr wrap="square">
            <a:spAutoFit/>
          </a:bodyPr>
          <a:lstStyle/>
          <a:p>
            <a:pPr algn="l"/>
            <a:r>
              <a:rPr sz="900" b="0" i="0">
                <a:solidFill>
                  <a:srgbClr val="D0D8F0"/>
                </a:solidFill>
              </a:rPr>
              <a:t>Read on: GET /balance/{userId}</a:t>
            </a:r>
          </a:p>
        </p:txBody>
      </p:sp>
      <p:sp>
        <p:nvSpPr>
          <p:cNvPr id="29" name="Rectangle 28"/>
          <p:cNvSpPr/>
          <p:nvPr/>
        </p:nvSpPr>
        <p:spPr>
          <a:xfrm>
            <a:off x="4407408" y="4059935"/>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98848" y="4105655"/>
            <a:ext cx="3291840" cy="384048"/>
          </a:xfrm>
          <a:prstGeom prst="rect">
            <a:avLst/>
          </a:prstGeom>
          <a:noFill/>
        </p:spPr>
        <p:txBody>
          <a:bodyPr wrap="square">
            <a:spAutoFit/>
          </a:bodyPr>
          <a:lstStyle/>
          <a:p>
            <a:pPr algn="l"/>
            <a:r>
              <a:rPr sz="900" b="0" i="0">
                <a:solidFill>
                  <a:srgbClr val="D0D8F0"/>
                </a:solidFill>
              </a:rPr>
              <a:t>If down: falls back to PostgreSQL reads — no data loss</a:t>
            </a:r>
          </a:p>
        </p:txBody>
      </p:sp>
      <p:sp>
        <p:nvSpPr>
          <p:cNvPr id="31" name="Rectangle 30"/>
          <p:cNvSpPr/>
          <p:nvPr/>
        </p:nvSpPr>
        <p:spPr>
          <a:xfrm>
            <a:off x="8220456" y="1188720"/>
            <a:ext cx="3749039" cy="5394960"/>
          </a:xfrm>
          <a:prstGeom prst="rect">
            <a:avLst/>
          </a:prstGeom>
          <a:solidFill>
            <a:srgbClr val="1E223A"/>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57616" y="1261872"/>
            <a:ext cx="3474720" cy="347472"/>
          </a:xfrm>
          <a:prstGeom prst="rect">
            <a:avLst/>
          </a:prstGeom>
          <a:noFill/>
        </p:spPr>
        <p:txBody>
          <a:bodyPr wrap="square">
            <a:spAutoFit/>
          </a:bodyPr>
          <a:lstStyle/>
          <a:p>
            <a:pPr algn="ctr"/>
            <a:r>
              <a:rPr sz="1600" b="1" i="0">
                <a:solidFill>
                  <a:srgbClr val="00B4D8"/>
                </a:solidFill>
              </a:rPr>
              <a:t>Kafka</a:t>
            </a:r>
          </a:p>
        </p:txBody>
      </p:sp>
      <p:sp>
        <p:nvSpPr>
          <p:cNvPr id="33" name="Rectangle 32"/>
          <p:cNvSpPr/>
          <p:nvPr/>
        </p:nvSpPr>
        <p:spPr>
          <a:xfrm>
            <a:off x="9637776" y="1645920"/>
            <a:ext cx="914400" cy="2286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D1B3E"/>
                </a:solidFill>
              </a:rPr>
              <a:t>:9092</a:t>
            </a:r>
          </a:p>
        </p:txBody>
      </p:sp>
      <p:sp>
        <p:nvSpPr>
          <p:cNvPr id="34" name="TextBox 33"/>
          <p:cNvSpPr txBox="1"/>
          <p:nvPr/>
        </p:nvSpPr>
        <p:spPr>
          <a:xfrm>
            <a:off x="8357616" y="1938528"/>
            <a:ext cx="3474720" cy="274320"/>
          </a:xfrm>
          <a:prstGeom prst="rect">
            <a:avLst/>
          </a:prstGeom>
          <a:noFill/>
        </p:spPr>
        <p:txBody>
          <a:bodyPr wrap="square">
            <a:spAutoFit/>
          </a:bodyPr>
          <a:lstStyle/>
          <a:p>
            <a:pPr algn="ctr"/>
            <a:r>
              <a:rPr sz="950" b="0" i="1">
                <a:solidFill>
                  <a:srgbClr val="FFFFFF"/>
                </a:solidFill>
              </a:rPr>
              <a:t>Async event bus between Transaction and Activity</a:t>
            </a:r>
          </a:p>
        </p:txBody>
      </p:sp>
      <p:sp>
        <p:nvSpPr>
          <p:cNvPr id="35" name="Rectangle 34"/>
          <p:cNvSpPr/>
          <p:nvPr/>
        </p:nvSpPr>
        <p:spPr>
          <a:xfrm>
            <a:off x="8220456" y="2267712"/>
            <a:ext cx="3749039"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357616" y="2359152"/>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449056" y="2404872"/>
            <a:ext cx="3291840" cy="384048"/>
          </a:xfrm>
          <a:prstGeom prst="rect">
            <a:avLst/>
          </a:prstGeom>
          <a:noFill/>
        </p:spPr>
        <p:txBody>
          <a:bodyPr wrap="square">
            <a:spAutoFit/>
          </a:bodyPr>
          <a:lstStyle/>
          <a:p>
            <a:pPr algn="l"/>
            <a:r>
              <a:rPr sz="900" b="0" i="0">
                <a:solidFill>
                  <a:srgbClr val="D0D8F0"/>
                </a:solidFill>
              </a:rPr>
              <a:t>Topic: banking-transactions</a:t>
            </a:r>
          </a:p>
        </p:txBody>
      </p:sp>
      <p:sp>
        <p:nvSpPr>
          <p:cNvPr id="38" name="Rectangle 37"/>
          <p:cNvSpPr/>
          <p:nvPr/>
        </p:nvSpPr>
        <p:spPr>
          <a:xfrm>
            <a:off x="8357616" y="2926080"/>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49056" y="2971800"/>
            <a:ext cx="3291840" cy="384048"/>
          </a:xfrm>
          <a:prstGeom prst="rect">
            <a:avLst/>
          </a:prstGeom>
          <a:noFill/>
        </p:spPr>
        <p:txBody>
          <a:bodyPr wrap="square">
            <a:spAutoFit/>
          </a:bodyPr>
          <a:lstStyle/>
          <a:p>
            <a:pPr algn="l"/>
            <a:r>
              <a:rPr sz="900" b="0" i="0">
                <a:solidFill>
                  <a:srgbClr val="D0D8F0"/>
                </a:solidFill>
              </a:rPr>
              <a:t>Producer: Transaction Service (on every write)</a:t>
            </a:r>
          </a:p>
        </p:txBody>
      </p:sp>
      <p:sp>
        <p:nvSpPr>
          <p:cNvPr id="40" name="Rectangle 39"/>
          <p:cNvSpPr/>
          <p:nvPr/>
        </p:nvSpPr>
        <p:spPr>
          <a:xfrm>
            <a:off x="8357616" y="3493008"/>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49056" y="3538728"/>
            <a:ext cx="3291840" cy="384048"/>
          </a:xfrm>
          <a:prstGeom prst="rect">
            <a:avLst/>
          </a:prstGeom>
          <a:noFill/>
        </p:spPr>
        <p:txBody>
          <a:bodyPr wrap="square">
            <a:spAutoFit/>
          </a:bodyPr>
          <a:lstStyle/>
          <a:p>
            <a:pPr algn="l"/>
            <a:r>
              <a:rPr sz="900" b="0" i="0">
                <a:solidFill>
                  <a:srgbClr val="D0D8F0"/>
                </a:solidFill>
              </a:rPr>
              <a:t>Consumer: Activity Service (background thread)</a:t>
            </a:r>
          </a:p>
        </p:txBody>
      </p:sp>
      <p:sp>
        <p:nvSpPr>
          <p:cNvPr id="42" name="Rectangle 41"/>
          <p:cNvSpPr/>
          <p:nvPr/>
        </p:nvSpPr>
        <p:spPr>
          <a:xfrm>
            <a:off x="8357616" y="4059935"/>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49056" y="4105655"/>
            <a:ext cx="3291840" cy="384048"/>
          </a:xfrm>
          <a:prstGeom prst="rect">
            <a:avLst/>
          </a:prstGeom>
          <a:noFill/>
        </p:spPr>
        <p:txBody>
          <a:bodyPr wrap="square">
            <a:spAutoFit/>
          </a:bodyPr>
          <a:lstStyle/>
          <a:p>
            <a:pPr algn="l"/>
            <a:r>
              <a:rPr sz="900" b="0" i="0">
                <a:solidFill>
                  <a:srgbClr val="D0D8F0"/>
                </a:solidFill>
              </a:rPr>
              <a:t>If down: transactions still succeed; activity logging pauses until Kafka recovers, then replays from offset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93408"/>
            <a:ext cx="12188952" cy="16459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1097280"/>
            <a:ext cx="8531352" cy="502920"/>
          </a:xfrm>
          <a:prstGeom prst="rect">
            <a:avLst/>
          </a:prstGeom>
          <a:noFill/>
        </p:spPr>
        <p:txBody>
          <a:bodyPr wrap="square">
            <a:spAutoFit/>
          </a:bodyPr>
          <a:lstStyle/>
          <a:p>
            <a:pPr algn="ctr"/>
            <a:r>
              <a:rPr sz="2800" b="1" i="0">
                <a:solidFill>
                  <a:srgbClr val="FFFFFF"/>
                </a:solidFill>
              </a:rPr>
              <a:t>Key Takeaways</a:t>
            </a:r>
          </a:p>
        </p:txBody>
      </p:sp>
      <p:sp>
        <p:nvSpPr>
          <p:cNvPr id="5" name="Rectangle 4"/>
          <p:cNvSpPr/>
          <p:nvPr/>
        </p:nvSpPr>
        <p:spPr>
          <a:xfrm>
            <a:off x="1828800" y="1737360"/>
            <a:ext cx="85313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97280" y="1920240"/>
            <a:ext cx="9966960" cy="713232"/>
          </a:xfrm>
          <a:prstGeom prst="rect">
            <a:avLst/>
          </a:prstGeom>
          <a:solidFill>
            <a:srgbClr val="12285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2084832"/>
            <a:ext cx="9601200" cy="457200"/>
          </a:xfrm>
          <a:prstGeom prst="rect">
            <a:avLst/>
          </a:prstGeom>
          <a:noFill/>
        </p:spPr>
        <p:txBody>
          <a:bodyPr wrap="square">
            <a:spAutoFit/>
          </a:bodyPr>
          <a:lstStyle/>
          <a:p>
            <a:r>
              <a:rPr sz="1100" b="1">
                <a:solidFill>
                  <a:srgbClr val="00B4D8"/>
                </a:solidFill>
              </a:rPr>
              <a:t>PostgreSQL — </a:t>
            </a:r>
            <a:r>
              <a:rPr sz="1100">
                <a:solidFill>
                  <a:srgbClr val="D0D8F0"/>
                </a:solidFill>
              </a:rPr>
              <a:t>is the single source of truth. Every other component is derived from or backed by it.</a:t>
            </a:r>
          </a:p>
        </p:txBody>
      </p:sp>
      <p:sp>
        <p:nvSpPr>
          <p:cNvPr id="8" name="Rectangle 7"/>
          <p:cNvSpPr/>
          <p:nvPr/>
        </p:nvSpPr>
        <p:spPr>
          <a:xfrm>
            <a:off x="1097280" y="2743200"/>
            <a:ext cx="9966960" cy="713232"/>
          </a:xfrm>
          <a:prstGeom prst="rect">
            <a:avLst/>
          </a:prstGeom>
          <a:solidFill>
            <a:srgbClr val="12285C"/>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2907792"/>
            <a:ext cx="9601200" cy="457200"/>
          </a:xfrm>
          <a:prstGeom prst="rect">
            <a:avLst/>
          </a:prstGeom>
          <a:noFill/>
        </p:spPr>
        <p:txBody>
          <a:bodyPr wrap="square">
            <a:spAutoFit/>
          </a:bodyPr>
          <a:lstStyle/>
          <a:p>
            <a:r>
              <a:rPr sz="1100" b="1">
                <a:solidFill>
                  <a:srgbClr val="FFB700"/>
                </a:solidFill>
              </a:rPr>
              <a:t>Redis — </a:t>
            </a:r>
            <a:r>
              <a:rPr sz="1100">
                <a:solidFill>
                  <a:srgbClr val="D0D8F0"/>
                </a:solidFill>
              </a:rPr>
              <a:t>is a performance optimisation — always written on every transaction, always read first for balances. If it fails, the system degrades gracefully.</a:t>
            </a:r>
          </a:p>
        </p:txBody>
      </p:sp>
      <p:sp>
        <p:nvSpPr>
          <p:cNvPr id="10" name="Rectangle 9"/>
          <p:cNvSpPr/>
          <p:nvPr/>
        </p:nvSpPr>
        <p:spPr>
          <a:xfrm>
            <a:off x="1097280" y="3566160"/>
            <a:ext cx="9966960" cy="713232"/>
          </a:xfrm>
          <a:prstGeom prst="rect">
            <a:avLst/>
          </a:prstGeom>
          <a:solidFill>
            <a:srgbClr val="12285C"/>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3730752"/>
            <a:ext cx="9601200" cy="457200"/>
          </a:xfrm>
          <a:prstGeom prst="rect">
            <a:avLst/>
          </a:prstGeom>
          <a:noFill/>
        </p:spPr>
        <p:txBody>
          <a:bodyPr wrap="square">
            <a:spAutoFit/>
          </a:bodyPr>
          <a:lstStyle/>
          <a:p>
            <a:r>
              <a:rPr sz="1100" b="1">
                <a:solidFill>
                  <a:srgbClr val="2DC683"/>
                </a:solidFill>
              </a:rPr>
              <a:t>Kafka — </a:t>
            </a:r>
            <a:r>
              <a:rPr sz="1100">
                <a:solidFill>
                  <a:srgbClr val="D0D8F0"/>
                </a:solidFill>
              </a:rPr>
              <a:t>is the decoupling mechanism. It lets transaction processing and activity logging evolve, scale, and fail independently.</a:t>
            </a:r>
          </a:p>
        </p:txBody>
      </p:sp>
      <p:sp>
        <p:nvSpPr>
          <p:cNvPr id="12" name="Rectangle 11"/>
          <p:cNvSpPr/>
          <p:nvPr/>
        </p:nvSpPr>
        <p:spPr>
          <a:xfrm>
            <a:off x="1097280" y="4389120"/>
            <a:ext cx="9966960" cy="713232"/>
          </a:xfrm>
          <a:prstGeom prst="rect">
            <a:avLst/>
          </a:prstGeom>
          <a:solidFill>
            <a:srgbClr val="12285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4553712"/>
            <a:ext cx="9601200" cy="457200"/>
          </a:xfrm>
          <a:prstGeom prst="rect">
            <a:avLst/>
          </a:prstGeom>
          <a:noFill/>
        </p:spPr>
        <p:txBody>
          <a:bodyPr wrap="square">
            <a:spAutoFit/>
          </a:bodyPr>
          <a:lstStyle/>
          <a:p>
            <a:r>
              <a:rPr sz="1100" b="1">
                <a:solidFill>
                  <a:srgbClr val="FFFFFF"/>
                </a:solidFill>
              </a:rPr>
              <a:t>No auth — </a:t>
            </a:r>
            <a:r>
              <a:rPr sz="1100">
                <a:solidFill>
                  <a:srgbClr val="D0D8F0"/>
                </a:solidFill>
              </a:rPr>
              <a:t>the X-User-Id header is trusted as-is. In production this would be replaced by a JWT validated at an API Gateway.</a:t>
            </a:r>
          </a:p>
        </p:txBody>
      </p:sp>
      <p:sp>
        <p:nvSpPr>
          <p:cNvPr id="14" name="Rectangle 13"/>
          <p:cNvSpPr/>
          <p:nvPr/>
        </p:nvSpPr>
        <p:spPr>
          <a:xfrm>
            <a:off x="1097280" y="5212080"/>
            <a:ext cx="9966960" cy="713232"/>
          </a:xfrm>
          <a:prstGeom prst="rect">
            <a:avLst/>
          </a:prstGeom>
          <a:solidFill>
            <a:srgbClr val="12285C"/>
          </a:solidFill>
          <a:ln w="19050">
            <a:solidFill>
              <a:srgbClr val="D0D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5376672"/>
            <a:ext cx="9601200" cy="457200"/>
          </a:xfrm>
          <a:prstGeom prst="rect">
            <a:avLst/>
          </a:prstGeom>
          <a:noFill/>
        </p:spPr>
        <p:txBody>
          <a:bodyPr wrap="square">
            <a:spAutoFit/>
          </a:bodyPr>
          <a:lstStyle/>
          <a:p>
            <a:r>
              <a:rPr sz="1100" b="1">
                <a:solidFill>
                  <a:srgbClr val="D0D8F0"/>
                </a:solidFill>
              </a:rPr>
              <a:t>No saga / 2PC — </a:t>
            </a:r>
            <a:r>
              <a:rPr sz="1100">
                <a:solidFill>
                  <a:srgbClr val="D0D8F0"/>
                </a:solidFill>
              </a:rPr>
              <a:t>there is no distributed transaction. DB writes and Kafka publishes can diverge on crash — an accepted trade-off for a PoC.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1402</Words>
  <Application>Microsoft Office PowerPoint</Application>
  <PresentationFormat>Custom</PresentationFormat>
  <Paragraphs>198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Awanish Singh</cp:lastModifiedBy>
  <cp:revision>3</cp:revision>
  <dcterms:created xsi:type="dcterms:W3CDTF">2013-01-27T09:14:16Z</dcterms:created>
  <dcterms:modified xsi:type="dcterms:W3CDTF">2026-10-05T17:38:22Z</dcterms:modified>
  <cp:category/>
</cp:coreProperties>
</file>